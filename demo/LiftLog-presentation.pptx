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91b794f-23fd-7d7a-579d-70eb0fb1a5d2}">
          <p14:sldIdLst>
            <p14:sldId id="256"/>
            <p14:sldId id="257"/>
          </p14:sldIdLst>
        </p14:section>
        <p14:section name="Build" id="{c30b8f40-a5a1-2061-ce51-872d526fb1ac}">
          <p14:sldIdLst>
            <p14:sldId id="258"/>
            <p14:sldId id="259"/>
          </p14:sldIdLst>
        </p14:section>
        <p14:section name="Delivery" id="{a70effc1-441b-8975-a14d-851b1a122f71}">
          <p14:sldIdLst>
            <p14:sldId id="260"/>
          </p14:sldIdLst>
        </p14:section>
        <p14:section name="Platform" id="{57dd8f4c-2224-eaa1-a9a2-c0ab0e748858}">
          <p14:sldIdLst>
            <p14:sldId id="261"/>
            <p14:sldId id="262"/>
          </p14:sldIdLst>
        </p14:section>
        <p14:section name="Operate" id="{b3a62cc1-cee0-667f-7455-112e6f993fcc}">
          <p14:sldIdLst>
            <p14:sldId id="263"/>
            <p14:sldId id="264"/>
          </p14:sldIdLst>
        </p14:section>
        <p14:section name="Wrap-up" id="{cf204118-64ef-e484-783c-e78a26b0b618}">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8EAF0"/>
                </a:solidFill>
                <a:latin typeface="+mn-lt"/>
              </a:defRPr>
            </a:pPr>
            <a:r>
              <a:rPr sz="1400" b="0" i="0" u="none" strike="noStrike">
                <a:solidFill>
                  <a:srgbClr val="E8EAF0"/>
                </a:solidFill>
                <a:latin typeface="+mn-lt"/>
              </a:rPr>
              <a:t>Fixable HIGH/CRITICAL CVEs (Trivy)</a:t>
            </a:r>
          </a:p>
        </c:rich>
      </c:tx>
      <c:layout/>
      <c:overlay val="0"/>
    </c:title>
    <c:autoTitleDeleted val="0"/>
    <c:plotArea>
      <c:layout/>
      <c:barChart>
        <c:barDir val="col"/>
        <c:grouping val="clustered"/>
        <c:varyColors val="0"/>
        <c:ser>
          <c:idx val="0"/>
          <c:order val="0"/>
          <c:tx>
            <c:strRef>
              <c:f>Sheet1!$B$1</c:f>
              <c:strCache>
                <c:ptCount val="1"/>
                <c:pt idx="0">
                  <c:v>Before fixes</c:v>
                </c:pt>
              </c:strCache>
            </c:strRef>
          </c:tx>
          <c:spPr>
            <a:solidFill>
              <a:srgbClr val="F87171"/>
            </a:solidFill>
            <a:effectLst/>
          </c:spPr>
          <c:invertIfNegative val="0"/>
          <c:dLbls>
            <c:numFmt formatCode="#,##0" sourceLinked="0"/>
            <c:txPr>
              <a:bodyPr/>
              <a:lstStyle/>
              <a:p>
                <a:pPr>
                  <a:defRPr b="0" i="0" strike="noStrike" sz="1200" u="none">
                    <a:solidFill>
                      <a:srgbClr val="E8EAF0"/>
                    </a:solidFill>
                    <a:latin typeface="+mn-lt"/>
                  </a:defRPr>
                </a:pPr>
              </a:p>
            </c:txPr>
            <c:showLegendKey val="0"/>
            <c:showVal val="1"/>
            <c:showCatName val="0"/>
            <c:showSerName val="0"/>
            <c:showPercent val="0"/>
            <c:showBubbleSize val="0"/>
            <c:showLeaderLines val="0"/>
          </c:dLbls>
          <c:cat>
            <c:multiLvlStrRef>
              <c:f>Sheet1!$A$2:$A$3</c:f>
              <c:multiLvlStrCache>
                <c:ptCount val="2"/>
                <c:lvl>
                  <c:pt idx="0">
                    <c:v>Backend image</c:v>
                  </c:pt>
                  <c:pt idx="1">
                    <c:v>Frontend image</c:v>
                  </c:pt>
                </c:lvl>
              </c:multiLvlStrCache>
            </c:multiLvlStrRef>
          </c:cat>
          <c:val>
            <c:numRef>
              <c:f>Sheet1!$B$2:$B$3</c:f>
              <c:numCache>
                <c:formatCode>General</c:formatCode>
                <c:ptCount val="2"/>
                <c:pt idx="0">
                  <c:v>3</c:v>
                </c:pt>
                <c:pt idx="1">
                  <c:v>43</c:v>
                </c:pt>
              </c:numCache>
            </c:numRef>
          </c:val>
        </c:ser>
        <c:ser>
          <c:idx val="1"/>
          <c:order val="1"/>
          <c:tx>
            <c:strRef>
              <c:f>Sheet1!$C$1</c:f>
              <c:strCache>
                <c:ptCount val="1"/>
                <c:pt idx="0">
                  <c:v>After fixes</c:v>
                </c:pt>
              </c:strCache>
            </c:strRef>
          </c:tx>
          <c:spPr>
            <a:solidFill>
              <a:srgbClr val="34D399"/>
            </a:solidFill>
            <a:effectLst/>
          </c:spPr>
          <c:invertIfNegative val="0"/>
          <c:dLbls>
            <c:numFmt formatCode="#,##0" sourceLinked="0"/>
            <c:txPr>
              <a:bodyPr/>
              <a:lstStyle/>
              <a:p>
                <a:pPr>
                  <a:defRPr b="0" i="0" strike="noStrike" sz="1200" u="none">
                    <a:solidFill>
                      <a:srgbClr val="E8EAF0"/>
                    </a:solidFill>
                    <a:latin typeface="+mn-lt"/>
                  </a:defRPr>
                </a:pPr>
              </a:p>
            </c:txPr>
            <c:showLegendKey val="0"/>
            <c:showVal val="1"/>
            <c:showCatName val="0"/>
            <c:showSerName val="0"/>
            <c:showPercent val="0"/>
            <c:showBubbleSize val="0"/>
            <c:showLeaderLines val="0"/>
          </c:dLbls>
          <c:cat>
            <c:multiLvlStrRef>
              <c:f>Sheet1!$A$2:$A$3</c:f>
              <c:multiLvlStrCache>
                <c:ptCount val="2"/>
                <c:lvl>
                  <c:pt idx="0">
                    <c:v>Backend image</c:v>
                  </c:pt>
                  <c:pt idx="1">
                    <c:v>Frontend image</c:v>
                  </c:pt>
                </c:lvl>
              </c:multiLvlStrCache>
            </c:multiLvlStrRef>
          </c:cat>
          <c:val>
            <c:numRef>
              <c:f>Sheet1!$C$2:$C$3</c:f>
              <c:numCache>
                <c:formatCode>General</c:formatCode>
                <c:ptCount val="2"/>
                <c:pt idx="0">
                  <c:v>0</c:v>
                </c:pt>
                <c:pt idx="1">
                  <c:v>0</c:v>
                </c:pt>
              </c:numCache>
            </c:numRef>
          </c:val>
        </c:ser>
        <c:dLbls>
          <c:numFmt formatCode="#,##0" sourceLinked="0"/>
          <c:txPr>
            <a:bodyPr/>
            <a:lstStyle/>
            <a:p>
              <a:pPr>
                <a:defRPr b="0" i="0" strike="noStrike" sz="1200" u="none">
                  <a:solidFill>
                    <a:srgbClr val="E8EAF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8EAF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1E2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3A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8EAF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Shreyas. This is LiftLog, my DevOps capstone: a workout tracker that I built, containerised, scanned, deployed to Amazon EKS with Terraform, Helm and Argo CD, and monitored with Prometheus and Grafana. I'll walk through what it does, the architecture, the pipeline, the infrastructure, and what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LiftLog lets you build an exercise library, log workouts set by set, and see premium-style analytics: personal records ranked by estimated one-rep max using the Epley formula, weekly and muscle-group volume, and progress charts per lift. The backend exposes 11 REST endpoints and is covered by 14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a React and Vite frontend served by an unprivileged nginx, a FastAPI backend with SQLAlchemy and Alembic migrations, and PostgreSQL. Everything ships as Docker images built in GitHub Actions, scanned by Trivy and pushed to GitHub Container Registry. Terraform builds the AWS VPC and EKS cluster, Helm and Argo CD deploy the app, and Prometheus and Grafana monitor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reach the app through an AWS Application Load Balancer created from the Kubernetes Ingress: slash goes to the frontend, slash-api to the FastAPI backend, which stores data in PostgreSQL on an EBS volume. Prometheus scrapes the backend's metrics endpoint. On the delivery side, a push triggers GitHub Actions, which tests, builds and scans the images, pushes them to GHCR tagged with the commit SHA, and commits that SHA to the Git repo. Argo CD inside the cluster pulls that change and rolls it out, so CI never needs cluster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to main runs three jobs. First, tests: 14 pytest cases plus the frontend production build. Second, both images are built and scanned with Trivy; any fixable high or critical vulnerability fails the build, and only then are images pushed to GHCR tagged with the commit SHA. Third, a GitOps job commits that SHA into values-eks.yaml. Argo CD sees the commit and performs a rolling update. The whole loop takes about two minutes, and CI holds no AWS credentials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provisions the whole platform in ap-southeast-2: a VPC with two public and two private subnets across two availability zones, a NAT gateway, and an EKS 1.36 cluster with a managed node group of two m7i-flex.large instances. Add-ons include the EBS CSI driver for the Postgres volume and metrics-server for autoscaling, and pods get AWS permissions through EKS Pod Identity. A single plan creates 64 resources, and destroy removes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Helm chart deploys two backend and two frontend replicas, with a horizontal pod autoscaler for the backend, Postgres on an EBS volume, ClusterIP services, an ALB Ingress, and a ServiceMonitor for Prometheus. I installed it once with helm upgrade --install, then handed it to Argo CD, which keeps the cluster in sync with Git and self-heals any manual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at slash-metrics. kube-prometheus-stack runs Prometheus and Grafana in the cluster, and the chart's ServiceMonitor scrapes both backend pods every 15 seconds; both targets show UP. The Grafana dashboard is stored in Git as a ConfigMap and shows request rate, p95 latency per endpoint, workouts logged, memory, CPU and responses by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part of the pipeline. Trivy scans both images and fails the build on any fixable high or critical vulnerability. With the starter versions it found 3 in starlette and 43 in the old nginx base image; I fixed them by upgrading FastAPI and starlette and moving to a current, unprivileged nginx image, so both scans are now clean. Both containers run as non-root users, and there are no long-lived keys anywhere: aws login locally, the built-in GITHUB_TOKEN in CI, and EKS Pod Identity in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learned: managed AWS accounts have guardrails, and a service control policy blocked the IAM OIDC provider, so EKS Pod Identity was the right tool. Kubernetes versions affect cost: 1.31 was in extended support at six times the price. Storage has sharp edges, like the lost+found directory on a fresh EBS volume breaking Postgres initdb. GitOps removes the need for cloud credentials in CI. It's better to fix vulnerable dependencies than ignore them. And tear-down order matters, so nothing is left running outside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repository, the walkthrough video and the full evidence for every grading module are linked here.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48056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468880"/>
            <a:ext cx="42062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LiftLog · DevOps Capstone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NeuralSynth/devops-heros-s21-liftlog" TargetMode="External"/><Relationship Id="rId4" Type="http://schemas.openxmlformats.org/officeDocument/2006/relationships/hyperlink" Target="https://youtu.be/2FtC1-wvGKg" TargetMode="External"/><Relationship Id="rId6" Type="http://schemas.openxmlformats.org/officeDocument/2006/relationships/hyperlink" Target="https://github.com/NeuralSynth/devops-heros-s21-liftlog/tree/main/docs/evidence" TargetMode="Externa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image" Target="../media/image-11-3.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1051560"/>
            <a:ext cx="43891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DEVOPS CAPSTONE · SESSION 21</a:t>
            </a:r>
            <a:endParaRPr lang="en-US" sz="1200" dirty="0"/>
          </a:p>
        </p:txBody>
      </p:sp>
      <p:sp>
        <p:nvSpPr>
          <p:cNvPr id="3" name="Text 0"/>
          <p:cNvSpPr/>
          <p:nvPr>
            <p:ph idx="100" type="title" hasCustomPrompt="1"/>
          </p:nvPr>
        </p:nvSpPr>
        <p:spPr>
          <a:xfrm>
            <a:off x="548640" y="1417320"/>
            <a:ext cx="4480560" cy="914400"/>
          </a:xfrm>
          <a:prstGeom prst="rect">
            <a:avLst/>
          </a:prstGeom>
          <a:noFill/>
          <a:ln/>
        </p:spPr>
        <p:txBody>
          <a:bodyPr wrap="square" lIns="0" tIns="0" rIns="0" bIns="0" rtlCol="0" anchor="b"/>
          <a:lstStyle/>
          <a:p>
            <a:pPr algn="l" indent="0" marL="0">
              <a:buNone/>
            </a:pPr>
            <a:r>
              <a:rPr lang="en-US" sz="4800" b="1" dirty="0">
                <a:solidFill>
                  <a:schemeClr val="bg1"/>
                </a:solidFill>
              </a:rPr>
              <a:t>LiftLog</a:t>
            </a:r>
            <a:endParaRPr lang="en-US" sz="4800" dirty="0"/>
          </a:p>
        </p:txBody>
      </p:sp>
      <p:sp>
        <p:nvSpPr>
          <p:cNvPr id="4" name="Text 0"/>
          <p:cNvSpPr/>
          <p:nvPr>
            <p:ph idx="101" type="body" hasCustomPrompt="1"/>
          </p:nvPr>
        </p:nvSpPr>
        <p:spPr>
          <a:xfrm>
            <a:off x="548640" y="2468880"/>
            <a:ext cx="4206240" cy="1097280"/>
          </a:xfrm>
          <a:prstGeom prst="rect">
            <a:avLst/>
          </a:prstGeom>
          <a:noFill/>
          <a:ln/>
        </p:spPr>
        <p:txBody>
          <a:bodyPr wrap="square" lIns="0" tIns="0" rIns="0" bIns="0" rtlCol="0" anchor="t"/>
          <a:lstStyle/>
          <a:p>
            <a:pPr indent="0" marL="0">
              <a:buNone/>
            </a:pPr>
            <a:r>
              <a:rPr lang="en-US" sz="1800" dirty="0">
                <a:solidFill>
                  <a:schemeClr val="bg2"/>
                </a:solidFill>
              </a:rPr>
              <a:t>A strength-training tracker, built, secured and shipped with GitOps on Amazon EKS</a:t>
            </a:r>
            <a:endParaRPr lang="en-US" sz="1800" dirty="0"/>
          </a:p>
        </p:txBody>
      </p:sp>
      <p:sp>
        <p:nvSpPr>
          <p:cNvPr id="5" name="byline"/>
          <p:cNvSpPr txBox="1"/>
          <p:nvPr/>
        </p:nvSpPr>
        <p:spPr>
          <a:xfrm>
            <a:off x="548640" y="3977640"/>
            <a:ext cx="4114800" cy="320040"/>
          </a:xfrm>
          <a:prstGeom prst="rect">
            <a:avLst/>
          </a:prstGeom>
          <a:noFill/>
          <a:ln/>
        </p:spPr>
        <p:txBody>
          <a:bodyPr wrap="square" lIns="0" tIns="0" rIns="0" bIns="0" rtlCol="0" anchor="ctr"/>
          <a:lstStyle/>
          <a:p>
            <a:pPr indent="0" marL="0">
              <a:buNone/>
            </a:pPr>
            <a:r>
              <a:rPr lang="en-US" sz="1400" dirty="0">
                <a:solidFill>
                  <a:schemeClr val="accent6"/>
                </a:solidFill>
              </a:rPr>
              <a:t>Shreyas S  ·  October 2026</a:t>
            </a:r>
            <a:endParaRPr lang="en-US" sz="1400" dirty="0"/>
          </a:p>
        </p:txBody>
      </p:sp>
      <p:pic>
        <p:nvPicPr>
          <p:cNvPr id="6" name="LiftLog dashboard screenshot" descr="LiftLog dashboard screenshot">    </p:cNvPr>
          <p:cNvPicPr>
            <a:picLocks noChangeAspect="1"/>
          </p:cNvPicPr>
          <p:nvPr/>
        </p:nvPicPr>
        <p:blipFill>
          <a:blip r:embed="rId1"/>
          <a:stretch>
            <a:fillRect/>
          </a:stretch>
        </p:blipFill>
        <p:spPr>
          <a:xfrm>
            <a:off x="4892040" y="1051560"/>
            <a:ext cx="3886200" cy="1848626"/>
          </a:xfrm>
          <a:prstGeom prst="rect">
            <a:avLst/>
          </a:prstGeom>
          <a:effectLst>
            <a:outerShdw sx="100000" sy="100000" kx="0" ky="0" algn="bl" rotWithShape="0" blurRad="101600" dist="38100" dir="5400000">
              <a:srgbClr val="000000">
                <a:alpha val="45000"/>
              </a:srgbClr>
            </a:outerShdw>
          </a:effectLst>
        </p:spPr>
      </p:pic>
      <p:sp>
        <p:nvSpPr>
          <p:cNvPr id="7" name="screenshot caption"/>
          <p:cNvSpPr txBox="1"/>
          <p:nvPr/>
        </p:nvSpPr>
        <p:spPr>
          <a:xfrm>
            <a:off x="4892040" y="3063240"/>
            <a:ext cx="3886200" cy="274320"/>
          </a:xfrm>
          <a:prstGeom prst="rect">
            <a:avLst/>
          </a:prstGeom>
          <a:noFill/>
          <a:ln/>
        </p:spPr>
        <p:txBody>
          <a:bodyPr wrap="square" lIns="0" tIns="0" rIns="0" bIns="0" rtlCol="0" anchor="ctr"/>
          <a:lstStyle/>
          <a:p>
            <a:pPr indent="0" marL="0">
              <a:buNone/>
            </a:pPr>
            <a:r>
              <a:rPr lang="en-US" sz="1100" i="1" dirty="0">
                <a:solidFill>
                  <a:schemeClr val="accent6"/>
                </a:solidFill>
              </a:rPr>
              <a:t>Live on EKS behind an AWS Application Load Balancer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What LiftLog does</a:t>
            </a:r>
            <a:endParaRPr lang="en-US" sz="3000" dirty="0"/>
          </a:p>
        </p:txBody>
      </p:sp>
      <p:sp>
        <p:nvSpPr>
          <p:cNvPr id="3" name="feature card Exercise library"/>
          <p:cNvSpPr/>
          <p:nvPr/>
        </p:nvSpPr>
        <p:spPr>
          <a:xfrm>
            <a:off x="457200" y="1143000"/>
            <a:ext cx="2697480" cy="960120"/>
          </a:xfrm>
          <a:prstGeom prst="roundRect">
            <a:avLst>
              <a:gd name="adj" fmla="val 11429"/>
            </a:avLst>
          </a:prstGeom>
          <a:solidFill>
            <a:schemeClr val="tx2"/>
          </a:solidFill>
          <a:ln w="12700">
            <a:solidFill>
              <a:schemeClr val="tx2"/>
            </a:solidFill>
            <a:prstDash val="solid"/>
          </a:ln>
        </p:spPr>
      </p:sp>
      <p:sp>
        <p:nvSpPr>
          <p:cNvPr id="4" name="Exercise library circle"/>
          <p:cNvSpPr/>
          <p:nvPr/>
        </p:nvSpPr>
        <p:spPr>
          <a:xfrm>
            <a:off x="640080" y="1371600"/>
            <a:ext cx="502920" cy="502920"/>
          </a:xfrm>
          <a:prstGeom prst="ellipse">
            <a:avLst/>
          </a:prstGeom>
          <a:solidFill>
            <a:schemeClr val="accent1"/>
          </a:solidFill>
          <a:ln w="12700">
            <a:solidFill>
              <a:schemeClr val="accent1"/>
            </a:solidFill>
            <a:prstDash val="solid"/>
          </a:ln>
        </p:spPr>
      </p:sp>
      <p:pic>
        <p:nvPicPr>
          <p:cNvPr id="5" name="Exercise library icon" descr="Exercise library">    </p:cNvPr>
          <p:cNvPicPr>
            <a:picLocks noChangeAspect="1"/>
          </p:cNvPicPr>
          <p:nvPr/>
        </p:nvPicPr>
        <p:blipFill>
          <a:blip r:embed="rId1"/>
          <a:stretch>
            <a:fillRect/>
          </a:stretch>
        </p:blipFill>
        <p:spPr>
          <a:xfrm>
            <a:off x="765810" y="1497330"/>
            <a:ext cx="251460" cy="251460"/>
          </a:xfrm>
          <a:prstGeom prst="rect">
            <a:avLst/>
          </a:prstGeom>
        </p:spPr>
      </p:pic>
      <p:sp>
        <p:nvSpPr>
          <p:cNvPr id="6" name="feature Exercise library title"/>
          <p:cNvSpPr txBox="1"/>
          <p:nvPr/>
        </p:nvSpPr>
        <p:spPr>
          <a:xfrm>
            <a:off x="1280160" y="1325880"/>
            <a:ext cx="1783080" cy="292608"/>
          </a:xfrm>
          <a:prstGeom prst="rect">
            <a:avLst/>
          </a:prstGeom>
          <a:noFill/>
          <a:ln/>
        </p:spPr>
        <p:txBody>
          <a:bodyPr wrap="square" lIns="0" tIns="0" rIns="0" bIns="0" rtlCol="0" anchor="ctr"/>
          <a:lstStyle/>
          <a:p>
            <a:pPr indent="0" marL="0">
              <a:buNone/>
            </a:pPr>
            <a:r>
              <a:rPr lang="en-US" sz="1500" b="1" dirty="0">
                <a:solidFill>
                  <a:schemeClr val="bg1"/>
                </a:solidFill>
              </a:rPr>
              <a:t>Exercise library</a:t>
            </a:r>
            <a:endParaRPr lang="en-US" sz="1500" dirty="0"/>
          </a:p>
        </p:txBody>
      </p:sp>
      <p:sp>
        <p:nvSpPr>
          <p:cNvPr id="7" name="feature Exercise library desc"/>
          <p:cNvSpPr txBox="1"/>
          <p:nvPr/>
        </p:nvSpPr>
        <p:spPr>
          <a:xfrm>
            <a:off x="1280160" y="1618488"/>
            <a:ext cx="1783080" cy="365760"/>
          </a:xfrm>
          <a:prstGeom prst="rect">
            <a:avLst/>
          </a:prstGeom>
          <a:noFill/>
          <a:ln/>
        </p:spPr>
        <p:txBody>
          <a:bodyPr wrap="square" lIns="0" tIns="0" rIns="0" bIns="0" rtlCol="0" anchor="ctr"/>
          <a:lstStyle/>
          <a:p>
            <a:pPr indent="0" marL="0">
              <a:buNone/>
            </a:pPr>
            <a:r>
              <a:rPr lang="en-US" sz="1100" dirty="0">
                <a:solidFill>
                  <a:schemeClr val="bg2"/>
                </a:solidFill>
              </a:rPr>
              <a:t>21 seeded exercises by muscle group</a:t>
            </a:r>
            <a:endParaRPr lang="en-US" sz="1100" dirty="0"/>
          </a:p>
        </p:txBody>
      </p:sp>
      <p:sp>
        <p:nvSpPr>
          <p:cNvPr id="8" name="feature card Workout logging"/>
          <p:cNvSpPr/>
          <p:nvPr/>
        </p:nvSpPr>
        <p:spPr>
          <a:xfrm>
            <a:off x="3337560" y="1143000"/>
            <a:ext cx="2697480" cy="960120"/>
          </a:xfrm>
          <a:prstGeom prst="roundRect">
            <a:avLst>
              <a:gd name="adj" fmla="val 11429"/>
            </a:avLst>
          </a:prstGeom>
          <a:solidFill>
            <a:schemeClr val="tx2"/>
          </a:solidFill>
          <a:ln w="12700">
            <a:solidFill>
              <a:schemeClr val="tx2"/>
            </a:solidFill>
            <a:prstDash val="solid"/>
          </a:ln>
        </p:spPr>
      </p:sp>
      <p:sp>
        <p:nvSpPr>
          <p:cNvPr id="9" name="Workout logging circle"/>
          <p:cNvSpPr/>
          <p:nvPr/>
        </p:nvSpPr>
        <p:spPr>
          <a:xfrm>
            <a:off x="3520440" y="1371600"/>
            <a:ext cx="502920" cy="502920"/>
          </a:xfrm>
          <a:prstGeom prst="ellipse">
            <a:avLst/>
          </a:prstGeom>
          <a:solidFill>
            <a:schemeClr val="accent1"/>
          </a:solidFill>
          <a:ln w="12700">
            <a:solidFill>
              <a:schemeClr val="accent1"/>
            </a:solidFill>
            <a:prstDash val="solid"/>
          </a:ln>
        </p:spPr>
      </p:sp>
      <p:pic>
        <p:nvPicPr>
          <p:cNvPr id="10" name="Workout logging icon" descr="Workout logging">    </p:cNvPr>
          <p:cNvPicPr>
            <a:picLocks noChangeAspect="1"/>
          </p:cNvPicPr>
          <p:nvPr/>
        </p:nvPicPr>
        <p:blipFill>
          <a:blip r:embed="rId2"/>
          <a:stretch>
            <a:fillRect/>
          </a:stretch>
        </p:blipFill>
        <p:spPr>
          <a:xfrm>
            <a:off x="3646170" y="1497330"/>
            <a:ext cx="251460" cy="251460"/>
          </a:xfrm>
          <a:prstGeom prst="rect">
            <a:avLst/>
          </a:prstGeom>
        </p:spPr>
      </p:pic>
      <p:sp>
        <p:nvSpPr>
          <p:cNvPr id="11" name="feature Workout logging title"/>
          <p:cNvSpPr txBox="1"/>
          <p:nvPr/>
        </p:nvSpPr>
        <p:spPr>
          <a:xfrm>
            <a:off x="4160520" y="1325880"/>
            <a:ext cx="1783080" cy="292608"/>
          </a:xfrm>
          <a:prstGeom prst="rect">
            <a:avLst/>
          </a:prstGeom>
          <a:noFill/>
          <a:ln/>
        </p:spPr>
        <p:txBody>
          <a:bodyPr wrap="square" lIns="0" tIns="0" rIns="0" bIns="0" rtlCol="0" anchor="ctr"/>
          <a:lstStyle/>
          <a:p>
            <a:pPr indent="0" marL="0">
              <a:buNone/>
            </a:pPr>
            <a:r>
              <a:rPr lang="en-US" sz="1500" b="1" dirty="0">
                <a:solidFill>
                  <a:schemeClr val="bg1"/>
                </a:solidFill>
              </a:rPr>
              <a:t>Workout logging</a:t>
            </a:r>
            <a:endParaRPr lang="en-US" sz="1500" dirty="0"/>
          </a:p>
        </p:txBody>
      </p:sp>
      <p:sp>
        <p:nvSpPr>
          <p:cNvPr id="12" name="feature Workout logging desc"/>
          <p:cNvSpPr txBox="1"/>
          <p:nvPr/>
        </p:nvSpPr>
        <p:spPr>
          <a:xfrm>
            <a:off x="4160520" y="1618488"/>
            <a:ext cx="1783080" cy="365760"/>
          </a:xfrm>
          <a:prstGeom prst="rect">
            <a:avLst/>
          </a:prstGeom>
          <a:noFill/>
          <a:ln/>
        </p:spPr>
        <p:txBody>
          <a:bodyPr wrap="square" lIns="0" tIns="0" rIns="0" bIns="0" rtlCol="0" anchor="ctr"/>
          <a:lstStyle/>
          <a:p>
            <a:pPr indent="0" marL="0">
              <a:buNone/>
            </a:pPr>
            <a:r>
              <a:rPr lang="en-US" sz="1100" dirty="0">
                <a:solidFill>
                  <a:schemeClr val="bg2"/>
                </a:solidFill>
              </a:rPr>
              <a:t>Sets with weight, reps and RPE</a:t>
            </a:r>
            <a:endParaRPr lang="en-US" sz="1100" dirty="0"/>
          </a:p>
        </p:txBody>
      </p:sp>
      <p:sp>
        <p:nvSpPr>
          <p:cNvPr id="13" name="feature card History"/>
          <p:cNvSpPr/>
          <p:nvPr/>
        </p:nvSpPr>
        <p:spPr>
          <a:xfrm>
            <a:off x="457200" y="2286000"/>
            <a:ext cx="2697480" cy="960120"/>
          </a:xfrm>
          <a:prstGeom prst="roundRect">
            <a:avLst>
              <a:gd name="adj" fmla="val 11429"/>
            </a:avLst>
          </a:prstGeom>
          <a:solidFill>
            <a:schemeClr val="tx2"/>
          </a:solidFill>
          <a:ln w="12700">
            <a:solidFill>
              <a:schemeClr val="tx2"/>
            </a:solidFill>
            <a:prstDash val="solid"/>
          </a:ln>
        </p:spPr>
      </p:sp>
      <p:sp>
        <p:nvSpPr>
          <p:cNvPr id="14" name="History circle"/>
          <p:cNvSpPr/>
          <p:nvPr/>
        </p:nvSpPr>
        <p:spPr>
          <a:xfrm>
            <a:off x="640080" y="2514600"/>
            <a:ext cx="502920" cy="502920"/>
          </a:xfrm>
          <a:prstGeom prst="ellipse">
            <a:avLst/>
          </a:prstGeom>
          <a:solidFill>
            <a:schemeClr val="accent1"/>
          </a:solidFill>
          <a:ln w="12700">
            <a:solidFill>
              <a:schemeClr val="accent1"/>
            </a:solidFill>
            <a:prstDash val="solid"/>
          </a:ln>
        </p:spPr>
      </p:sp>
      <p:pic>
        <p:nvPicPr>
          <p:cNvPr id="15" name="History icon" descr="History">    </p:cNvPr>
          <p:cNvPicPr>
            <a:picLocks noChangeAspect="1"/>
          </p:cNvPicPr>
          <p:nvPr/>
        </p:nvPicPr>
        <p:blipFill>
          <a:blip r:embed="rId3"/>
          <a:stretch>
            <a:fillRect/>
          </a:stretch>
        </p:blipFill>
        <p:spPr>
          <a:xfrm>
            <a:off x="765810" y="2640330"/>
            <a:ext cx="251460" cy="251460"/>
          </a:xfrm>
          <a:prstGeom prst="rect">
            <a:avLst/>
          </a:prstGeom>
        </p:spPr>
      </p:pic>
      <p:sp>
        <p:nvSpPr>
          <p:cNvPr id="16" name="feature History title"/>
          <p:cNvSpPr txBox="1"/>
          <p:nvPr/>
        </p:nvSpPr>
        <p:spPr>
          <a:xfrm>
            <a:off x="1280160" y="2468880"/>
            <a:ext cx="1783080" cy="292608"/>
          </a:xfrm>
          <a:prstGeom prst="rect">
            <a:avLst/>
          </a:prstGeom>
          <a:noFill/>
          <a:ln/>
        </p:spPr>
        <p:txBody>
          <a:bodyPr wrap="square" lIns="0" tIns="0" rIns="0" bIns="0" rtlCol="0" anchor="ctr"/>
          <a:lstStyle/>
          <a:p>
            <a:pPr indent="0" marL="0">
              <a:buNone/>
            </a:pPr>
            <a:r>
              <a:rPr lang="en-US" sz="1500" b="1" dirty="0">
                <a:solidFill>
                  <a:schemeClr val="bg1"/>
                </a:solidFill>
              </a:rPr>
              <a:t>History</a:t>
            </a:r>
            <a:endParaRPr lang="en-US" sz="1500" dirty="0"/>
          </a:p>
        </p:txBody>
      </p:sp>
      <p:sp>
        <p:nvSpPr>
          <p:cNvPr id="17" name="feature History desc"/>
          <p:cNvSpPr txBox="1"/>
          <p:nvPr/>
        </p:nvSpPr>
        <p:spPr>
          <a:xfrm>
            <a:off x="1280160" y="2761488"/>
            <a:ext cx="1783080" cy="365760"/>
          </a:xfrm>
          <a:prstGeom prst="rect">
            <a:avLst/>
          </a:prstGeom>
          <a:noFill/>
          <a:ln/>
        </p:spPr>
        <p:txBody>
          <a:bodyPr wrap="square" lIns="0" tIns="0" rIns="0" bIns="0" rtlCol="0" anchor="ctr"/>
          <a:lstStyle/>
          <a:p>
            <a:pPr indent="0" marL="0">
              <a:buNone/>
            </a:pPr>
            <a:r>
              <a:rPr lang="en-US" sz="1100" dirty="0">
                <a:solidFill>
                  <a:schemeClr val="bg2"/>
                </a:solidFill>
              </a:rPr>
              <a:t>Every session with volume per workout</a:t>
            </a:r>
            <a:endParaRPr lang="en-US" sz="1100" dirty="0"/>
          </a:p>
        </p:txBody>
      </p:sp>
      <p:sp>
        <p:nvSpPr>
          <p:cNvPr id="18" name="feature card Personal records"/>
          <p:cNvSpPr/>
          <p:nvPr/>
        </p:nvSpPr>
        <p:spPr>
          <a:xfrm>
            <a:off x="3337560" y="2286000"/>
            <a:ext cx="2697480" cy="960120"/>
          </a:xfrm>
          <a:prstGeom prst="roundRect">
            <a:avLst>
              <a:gd name="adj" fmla="val 11429"/>
            </a:avLst>
          </a:prstGeom>
          <a:solidFill>
            <a:schemeClr val="tx2"/>
          </a:solidFill>
          <a:ln w="12700">
            <a:solidFill>
              <a:schemeClr val="tx2"/>
            </a:solidFill>
            <a:prstDash val="solid"/>
          </a:ln>
        </p:spPr>
      </p:sp>
      <p:sp>
        <p:nvSpPr>
          <p:cNvPr id="19" name="Personal records circle"/>
          <p:cNvSpPr/>
          <p:nvPr/>
        </p:nvSpPr>
        <p:spPr>
          <a:xfrm>
            <a:off x="3520440" y="2514600"/>
            <a:ext cx="502920" cy="502920"/>
          </a:xfrm>
          <a:prstGeom prst="ellipse">
            <a:avLst/>
          </a:prstGeom>
          <a:solidFill>
            <a:schemeClr val="accent3"/>
          </a:solidFill>
          <a:ln w="12700">
            <a:solidFill>
              <a:schemeClr val="accent3"/>
            </a:solidFill>
            <a:prstDash val="solid"/>
          </a:ln>
        </p:spPr>
      </p:sp>
      <p:pic>
        <p:nvPicPr>
          <p:cNvPr id="20" name="Personal records icon" descr="Personal records">    </p:cNvPr>
          <p:cNvPicPr>
            <a:picLocks noChangeAspect="1"/>
          </p:cNvPicPr>
          <p:nvPr/>
        </p:nvPicPr>
        <p:blipFill>
          <a:blip r:embed="rId4"/>
          <a:stretch>
            <a:fillRect/>
          </a:stretch>
        </p:blipFill>
        <p:spPr>
          <a:xfrm>
            <a:off x="3646170" y="2640330"/>
            <a:ext cx="251460" cy="251460"/>
          </a:xfrm>
          <a:prstGeom prst="rect">
            <a:avLst/>
          </a:prstGeom>
        </p:spPr>
      </p:pic>
      <p:sp>
        <p:nvSpPr>
          <p:cNvPr id="21" name="feature Personal records title"/>
          <p:cNvSpPr txBox="1"/>
          <p:nvPr/>
        </p:nvSpPr>
        <p:spPr>
          <a:xfrm>
            <a:off x="4160520" y="2468880"/>
            <a:ext cx="1783080" cy="292608"/>
          </a:xfrm>
          <a:prstGeom prst="rect">
            <a:avLst/>
          </a:prstGeom>
          <a:noFill/>
          <a:ln/>
        </p:spPr>
        <p:txBody>
          <a:bodyPr wrap="square" lIns="0" tIns="0" rIns="0" bIns="0" rtlCol="0" anchor="ctr"/>
          <a:lstStyle/>
          <a:p>
            <a:pPr indent="0" marL="0">
              <a:buNone/>
            </a:pPr>
            <a:r>
              <a:rPr lang="en-US" sz="1500" b="1" dirty="0">
                <a:solidFill>
                  <a:schemeClr val="bg1"/>
                </a:solidFill>
              </a:rPr>
              <a:t>Personal records</a:t>
            </a:r>
            <a:endParaRPr lang="en-US" sz="1500" dirty="0"/>
          </a:p>
        </p:txBody>
      </p:sp>
      <p:sp>
        <p:nvSpPr>
          <p:cNvPr id="22" name="feature Personal records desc"/>
          <p:cNvSpPr txBox="1"/>
          <p:nvPr/>
        </p:nvSpPr>
        <p:spPr>
          <a:xfrm>
            <a:off x="4160520" y="2761488"/>
            <a:ext cx="1783080" cy="365760"/>
          </a:xfrm>
          <a:prstGeom prst="rect">
            <a:avLst/>
          </a:prstGeom>
          <a:noFill/>
          <a:ln/>
        </p:spPr>
        <p:txBody>
          <a:bodyPr wrap="square" lIns="0" tIns="0" rIns="0" bIns="0" rtlCol="0" anchor="ctr"/>
          <a:lstStyle/>
          <a:p>
            <a:pPr indent="0" marL="0">
              <a:buNone/>
            </a:pPr>
            <a:r>
              <a:rPr lang="en-US" sz="1100" dirty="0">
                <a:solidFill>
                  <a:schemeClr val="bg2"/>
                </a:solidFill>
              </a:rPr>
              <a:t>Best set ranked by estimated 1RM</a:t>
            </a:r>
            <a:endParaRPr lang="en-US" sz="1100" dirty="0"/>
          </a:p>
        </p:txBody>
      </p:sp>
      <p:sp>
        <p:nvSpPr>
          <p:cNvPr id="23" name="feature card Volume analytics"/>
          <p:cNvSpPr/>
          <p:nvPr/>
        </p:nvSpPr>
        <p:spPr>
          <a:xfrm>
            <a:off x="457200" y="3429000"/>
            <a:ext cx="2697480" cy="960120"/>
          </a:xfrm>
          <a:prstGeom prst="roundRect">
            <a:avLst>
              <a:gd name="adj" fmla="val 11429"/>
            </a:avLst>
          </a:prstGeom>
          <a:solidFill>
            <a:schemeClr val="tx2"/>
          </a:solidFill>
          <a:ln w="12700">
            <a:solidFill>
              <a:schemeClr val="tx2"/>
            </a:solidFill>
            <a:prstDash val="solid"/>
          </a:ln>
        </p:spPr>
      </p:sp>
      <p:sp>
        <p:nvSpPr>
          <p:cNvPr id="24" name="Volume analytics circle"/>
          <p:cNvSpPr/>
          <p:nvPr/>
        </p:nvSpPr>
        <p:spPr>
          <a:xfrm>
            <a:off x="640080" y="3657600"/>
            <a:ext cx="502920" cy="502920"/>
          </a:xfrm>
          <a:prstGeom prst="ellipse">
            <a:avLst/>
          </a:prstGeom>
          <a:solidFill>
            <a:schemeClr val="accent3"/>
          </a:solidFill>
          <a:ln w="12700">
            <a:solidFill>
              <a:schemeClr val="accent3"/>
            </a:solidFill>
            <a:prstDash val="solid"/>
          </a:ln>
        </p:spPr>
      </p:sp>
      <p:pic>
        <p:nvPicPr>
          <p:cNvPr id="25" name="Volume analytics icon" descr="Volume analytics">    </p:cNvPr>
          <p:cNvPicPr>
            <a:picLocks noChangeAspect="1"/>
          </p:cNvPicPr>
          <p:nvPr/>
        </p:nvPicPr>
        <p:blipFill>
          <a:blip r:embed="rId5"/>
          <a:stretch>
            <a:fillRect/>
          </a:stretch>
        </p:blipFill>
        <p:spPr>
          <a:xfrm>
            <a:off x="765810" y="3783330"/>
            <a:ext cx="251460" cy="251460"/>
          </a:xfrm>
          <a:prstGeom prst="rect">
            <a:avLst/>
          </a:prstGeom>
        </p:spPr>
      </p:pic>
      <p:sp>
        <p:nvSpPr>
          <p:cNvPr id="26" name="feature Volume analytics title"/>
          <p:cNvSpPr txBox="1"/>
          <p:nvPr/>
        </p:nvSpPr>
        <p:spPr>
          <a:xfrm>
            <a:off x="1280160" y="3611880"/>
            <a:ext cx="1783080" cy="292608"/>
          </a:xfrm>
          <a:prstGeom prst="rect">
            <a:avLst/>
          </a:prstGeom>
          <a:noFill/>
          <a:ln/>
        </p:spPr>
        <p:txBody>
          <a:bodyPr wrap="square" lIns="0" tIns="0" rIns="0" bIns="0" rtlCol="0" anchor="ctr"/>
          <a:lstStyle/>
          <a:p>
            <a:pPr indent="0" marL="0">
              <a:buNone/>
            </a:pPr>
            <a:r>
              <a:rPr lang="en-US" sz="1500" b="1" dirty="0">
                <a:solidFill>
                  <a:schemeClr val="bg1"/>
                </a:solidFill>
              </a:rPr>
              <a:t>Volume analytics</a:t>
            </a:r>
            <a:endParaRPr lang="en-US" sz="1500" dirty="0"/>
          </a:p>
        </p:txBody>
      </p:sp>
      <p:sp>
        <p:nvSpPr>
          <p:cNvPr id="27" name="feature Volume analytics desc"/>
          <p:cNvSpPr txBox="1"/>
          <p:nvPr/>
        </p:nvSpPr>
        <p:spPr>
          <a:xfrm>
            <a:off x="1280160" y="3904488"/>
            <a:ext cx="1783080" cy="365760"/>
          </a:xfrm>
          <a:prstGeom prst="rect">
            <a:avLst/>
          </a:prstGeom>
          <a:noFill/>
          <a:ln/>
        </p:spPr>
        <p:txBody>
          <a:bodyPr wrap="square" lIns="0" tIns="0" rIns="0" bIns="0" rtlCol="0" anchor="ctr"/>
          <a:lstStyle/>
          <a:p>
            <a:pPr indent="0" marL="0">
              <a:buNone/>
            </a:pPr>
            <a:r>
              <a:rPr lang="en-US" sz="1100" dirty="0">
                <a:solidFill>
                  <a:schemeClr val="bg2"/>
                </a:solidFill>
              </a:rPr>
              <a:t>Weekly totals and muscle-group split</a:t>
            </a:r>
            <a:endParaRPr lang="en-US" sz="1100" dirty="0"/>
          </a:p>
        </p:txBody>
      </p:sp>
      <p:sp>
        <p:nvSpPr>
          <p:cNvPr id="28" name="feature card Progress charts"/>
          <p:cNvSpPr/>
          <p:nvPr/>
        </p:nvSpPr>
        <p:spPr>
          <a:xfrm>
            <a:off x="3337560" y="3429000"/>
            <a:ext cx="2697480" cy="960120"/>
          </a:xfrm>
          <a:prstGeom prst="roundRect">
            <a:avLst>
              <a:gd name="adj" fmla="val 11429"/>
            </a:avLst>
          </a:prstGeom>
          <a:solidFill>
            <a:schemeClr val="tx2"/>
          </a:solidFill>
          <a:ln w="12700">
            <a:solidFill>
              <a:schemeClr val="tx2"/>
            </a:solidFill>
            <a:prstDash val="solid"/>
          </a:ln>
        </p:spPr>
      </p:sp>
      <p:sp>
        <p:nvSpPr>
          <p:cNvPr id="29" name="Progress charts circle"/>
          <p:cNvSpPr/>
          <p:nvPr/>
        </p:nvSpPr>
        <p:spPr>
          <a:xfrm>
            <a:off x="3520440" y="3657600"/>
            <a:ext cx="502920" cy="502920"/>
          </a:xfrm>
          <a:prstGeom prst="ellipse">
            <a:avLst/>
          </a:prstGeom>
          <a:solidFill>
            <a:schemeClr val="accent3"/>
          </a:solidFill>
          <a:ln w="12700">
            <a:solidFill>
              <a:schemeClr val="accent3"/>
            </a:solidFill>
            <a:prstDash val="solid"/>
          </a:ln>
        </p:spPr>
      </p:sp>
      <p:pic>
        <p:nvPicPr>
          <p:cNvPr id="30" name="Progress charts icon" descr="Progress charts">    </p:cNvPr>
          <p:cNvPicPr>
            <a:picLocks noChangeAspect="1"/>
          </p:cNvPicPr>
          <p:nvPr/>
        </p:nvPicPr>
        <p:blipFill>
          <a:blip r:embed="rId6"/>
          <a:stretch>
            <a:fillRect/>
          </a:stretch>
        </p:blipFill>
        <p:spPr>
          <a:xfrm>
            <a:off x="3646170" y="3783330"/>
            <a:ext cx="251460" cy="251460"/>
          </a:xfrm>
          <a:prstGeom prst="rect">
            <a:avLst/>
          </a:prstGeom>
        </p:spPr>
      </p:pic>
      <p:sp>
        <p:nvSpPr>
          <p:cNvPr id="31" name="feature Progress charts title"/>
          <p:cNvSpPr txBox="1"/>
          <p:nvPr/>
        </p:nvSpPr>
        <p:spPr>
          <a:xfrm>
            <a:off x="4160520" y="3611880"/>
            <a:ext cx="1783080" cy="292608"/>
          </a:xfrm>
          <a:prstGeom prst="rect">
            <a:avLst/>
          </a:prstGeom>
          <a:noFill/>
          <a:ln/>
        </p:spPr>
        <p:txBody>
          <a:bodyPr wrap="square" lIns="0" tIns="0" rIns="0" bIns="0" rtlCol="0" anchor="ctr"/>
          <a:lstStyle/>
          <a:p>
            <a:pPr indent="0" marL="0">
              <a:buNone/>
            </a:pPr>
            <a:r>
              <a:rPr lang="en-US" sz="1500" b="1" dirty="0">
                <a:solidFill>
                  <a:schemeClr val="bg1"/>
                </a:solidFill>
              </a:rPr>
              <a:t>Progress charts</a:t>
            </a:r>
            <a:endParaRPr lang="en-US" sz="1500" dirty="0"/>
          </a:p>
        </p:txBody>
      </p:sp>
      <p:sp>
        <p:nvSpPr>
          <p:cNvPr id="32" name="feature Progress charts desc"/>
          <p:cNvSpPr txBox="1"/>
          <p:nvPr/>
        </p:nvSpPr>
        <p:spPr>
          <a:xfrm>
            <a:off x="4160520" y="3904488"/>
            <a:ext cx="1783080" cy="365760"/>
          </a:xfrm>
          <a:prstGeom prst="rect">
            <a:avLst/>
          </a:prstGeom>
          <a:noFill/>
          <a:ln/>
        </p:spPr>
        <p:txBody>
          <a:bodyPr wrap="square" lIns="0" tIns="0" rIns="0" bIns="0" rtlCol="0" anchor="ctr"/>
          <a:lstStyle/>
          <a:p>
            <a:pPr indent="0" marL="0">
              <a:buNone/>
            </a:pPr>
            <a:r>
              <a:rPr lang="en-US" sz="1100" dirty="0">
                <a:solidFill>
                  <a:schemeClr val="bg2"/>
                </a:solidFill>
              </a:rPr>
              <a:t>Estimated 1RM over time per lift</a:t>
            </a:r>
            <a:endParaRPr lang="en-US" sz="1100" dirty="0"/>
          </a:p>
        </p:txBody>
      </p:sp>
      <p:sp>
        <p:nvSpPr>
          <p:cNvPr id="33" name="stat REST endpoints value"/>
          <p:cNvSpPr txBox="1"/>
          <p:nvPr/>
        </p:nvSpPr>
        <p:spPr>
          <a:xfrm>
            <a:off x="6400800" y="1097280"/>
            <a:ext cx="2286000" cy="640080"/>
          </a:xfrm>
          <a:prstGeom prst="rect">
            <a:avLst/>
          </a:prstGeom>
          <a:noFill/>
          <a:ln/>
        </p:spPr>
        <p:txBody>
          <a:bodyPr wrap="square" lIns="0" tIns="0" rIns="0" bIns="0" rtlCol="0" anchor="ctr"/>
          <a:lstStyle/>
          <a:p>
            <a:pPr indent="0" marL="0">
              <a:buNone/>
            </a:pPr>
            <a:r>
              <a:rPr lang="en-US" sz="4400" b="1" dirty="0">
                <a:solidFill>
                  <a:schemeClr val="accent1"/>
                </a:solidFill>
              </a:rPr>
              <a:t>11</a:t>
            </a:r>
            <a:endParaRPr lang="en-US" sz="4400" dirty="0"/>
          </a:p>
        </p:txBody>
      </p:sp>
      <p:sp>
        <p:nvSpPr>
          <p:cNvPr id="34" name="stat REST endpoints label"/>
          <p:cNvSpPr txBox="1"/>
          <p:nvPr/>
        </p:nvSpPr>
        <p:spPr>
          <a:xfrm>
            <a:off x="6400800" y="1691640"/>
            <a:ext cx="2286000" cy="320040"/>
          </a:xfrm>
          <a:prstGeom prst="rect">
            <a:avLst/>
          </a:prstGeom>
          <a:noFill/>
          <a:ln/>
        </p:spPr>
        <p:txBody>
          <a:bodyPr wrap="square" lIns="0" tIns="0" rIns="0" bIns="0" rtlCol="0" anchor="ctr"/>
          <a:lstStyle/>
          <a:p>
            <a:pPr indent="0" marL="0">
              <a:buNone/>
            </a:pPr>
            <a:r>
              <a:rPr lang="en-US" sz="1400" dirty="0">
                <a:solidFill>
                  <a:schemeClr val="bg2"/>
                </a:solidFill>
              </a:rPr>
              <a:t>REST endpoints</a:t>
            </a:r>
            <a:endParaRPr lang="en-US" sz="1400" dirty="0"/>
          </a:p>
        </p:txBody>
      </p:sp>
      <p:sp>
        <p:nvSpPr>
          <p:cNvPr id="35" name="stat automated tests value"/>
          <p:cNvSpPr txBox="1"/>
          <p:nvPr/>
        </p:nvSpPr>
        <p:spPr>
          <a:xfrm>
            <a:off x="6400800" y="2240280"/>
            <a:ext cx="2286000" cy="640080"/>
          </a:xfrm>
          <a:prstGeom prst="rect">
            <a:avLst/>
          </a:prstGeom>
          <a:noFill/>
          <a:ln/>
        </p:spPr>
        <p:txBody>
          <a:bodyPr wrap="square" lIns="0" tIns="0" rIns="0" bIns="0" rtlCol="0" anchor="ctr"/>
          <a:lstStyle/>
          <a:p>
            <a:pPr indent="0" marL="0">
              <a:buNone/>
            </a:pPr>
            <a:r>
              <a:rPr lang="en-US" sz="4400" b="1" dirty="0">
                <a:solidFill>
                  <a:schemeClr val="accent1"/>
                </a:solidFill>
              </a:rPr>
              <a:t>14</a:t>
            </a:r>
            <a:endParaRPr lang="en-US" sz="4400" dirty="0"/>
          </a:p>
        </p:txBody>
      </p:sp>
      <p:sp>
        <p:nvSpPr>
          <p:cNvPr id="36" name="stat automated tests label"/>
          <p:cNvSpPr txBox="1"/>
          <p:nvPr/>
        </p:nvSpPr>
        <p:spPr>
          <a:xfrm>
            <a:off x="6400800" y="2834640"/>
            <a:ext cx="2286000" cy="320040"/>
          </a:xfrm>
          <a:prstGeom prst="rect">
            <a:avLst/>
          </a:prstGeom>
          <a:noFill/>
          <a:ln/>
        </p:spPr>
        <p:txBody>
          <a:bodyPr wrap="square" lIns="0" tIns="0" rIns="0" bIns="0" rtlCol="0" anchor="ctr"/>
          <a:lstStyle/>
          <a:p>
            <a:pPr indent="0" marL="0">
              <a:buNone/>
            </a:pPr>
            <a:r>
              <a:rPr lang="en-US" sz="1400" dirty="0">
                <a:solidFill>
                  <a:schemeClr val="bg2"/>
                </a:solidFill>
              </a:rPr>
              <a:t>automated tests</a:t>
            </a:r>
            <a:endParaRPr lang="en-US" sz="1400" dirty="0"/>
          </a:p>
        </p:txBody>
      </p:sp>
      <p:sp>
        <p:nvSpPr>
          <p:cNvPr id="37" name="stat PRO analytics views value"/>
          <p:cNvSpPr txBox="1"/>
          <p:nvPr/>
        </p:nvSpPr>
        <p:spPr>
          <a:xfrm>
            <a:off x="6400800" y="3383280"/>
            <a:ext cx="2286000" cy="640080"/>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38" name="stat PRO analytics views label"/>
          <p:cNvSpPr txBox="1"/>
          <p:nvPr/>
        </p:nvSpPr>
        <p:spPr>
          <a:xfrm>
            <a:off x="6400800" y="3977640"/>
            <a:ext cx="2286000" cy="320040"/>
          </a:xfrm>
          <a:prstGeom prst="rect">
            <a:avLst/>
          </a:prstGeom>
          <a:noFill/>
          <a:ln/>
        </p:spPr>
        <p:txBody>
          <a:bodyPr wrap="square" lIns="0" tIns="0" rIns="0" bIns="0" rtlCol="0" anchor="ctr"/>
          <a:lstStyle/>
          <a:p>
            <a:pPr indent="0" marL="0">
              <a:buNone/>
            </a:pPr>
            <a:r>
              <a:rPr lang="en-US" sz="1400" dirty="0">
                <a:solidFill>
                  <a:schemeClr val="bg2"/>
                </a:solidFill>
              </a:rPr>
              <a:t>PRO analytics views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Tech stack</a:t>
            </a:r>
            <a:endParaRPr lang="en-US" sz="3000" dirty="0"/>
          </a:p>
        </p:txBody>
      </p:sp>
      <p:sp>
        <p:nvSpPr>
          <p:cNvPr id="3" name="stack card Frontend"/>
          <p:cNvSpPr/>
          <p:nvPr/>
        </p:nvSpPr>
        <p:spPr>
          <a:xfrm>
            <a:off x="457200" y="1143000"/>
            <a:ext cx="1920240" cy="1554480"/>
          </a:xfrm>
          <a:prstGeom prst="roundRect">
            <a:avLst>
              <a:gd name="adj" fmla="val 7059"/>
            </a:avLst>
          </a:prstGeom>
          <a:solidFill>
            <a:schemeClr val="tx2"/>
          </a:solidFill>
          <a:ln w="12700">
            <a:solidFill>
              <a:schemeClr val="tx2"/>
            </a:solidFill>
            <a:prstDash val="solid"/>
          </a:ln>
        </p:spPr>
      </p:sp>
      <p:sp>
        <p:nvSpPr>
          <p:cNvPr id="4" name="Frontend circle"/>
          <p:cNvSpPr/>
          <p:nvPr/>
        </p:nvSpPr>
        <p:spPr>
          <a:xfrm>
            <a:off x="640080" y="1325880"/>
            <a:ext cx="548640" cy="548640"/>
          </a:xfrm>
          <a:prstGeom prst="ellipse">
            <a:avLst/>
          </a:prstGeom>
          <a:solidFill>
            <a:schemeClr val="accent1"/>
          </a:solidFill>
          <a:ln w="12700">
            <a:solidFill>
              <a:schemeClr val="accent1"/>
            </a:solidFill>
            <a:prstDash val="solid"/>
          </a:ln>
        </p:spPr>
      </p:sp>
      <p:pic>
        <p:nvPicPr>
          <p:cNvPr id="5" name="Frontend icon" descr="Frontend">    </p:cNvPr>
          <p:cNvPicPr>
            <a:picLocks noChangeAspect="1"/>
          </p:cNvPicPr>
          <p:nvPr/>
        </p:nvPicPr>
        <p:blipFill>
          <a:blip r:embed="rId1"/>
          <a:stretch>
            <a:fillRect/>
          </a:stretch>
        </p:blipFill>
        <p:spPr>
          <a:xfrm>
            <a:off x="777240" y="1463040"/>
            <a:ext cx="274320" cy="274320"/>
          </a:xfrm>
          <a:prstGeom prst="rect">
            <a:avLst/>
          </a:prstGeom>
        </p:spPr>
      </p:pic>
      <p:sp>
        <p:nvSpPr>
          <p:cNvPr id="6" name="stack Frontend title"/>
          <p:cNvSpPr txBox="1"/>
          <p:nvPr/>
        </p:nvSpPr>
        <p:spPr>
          <a:xfrm>
            <a:off x="640080" y="1965960"/>
            <a:ext cx="1600200" cy="274320"/>
          </a:xfrm>
          <a:prstGeom prst="rect">
            <a:avLst/>
          </a:prstGeom>
          <a:noFill/>
          <a:ln/>
        </p:spPr>
        <p:txBody>
          <a:bodyPr wrap="square" lIns="0" tIns="0" rIns="0" bIns="0" rtlCol="0" anchor="ctr"/>
          <a:lstStyle/>
          <a:p>
            <a:pPr indent="0" marL="0">
              <a:buNone/>
            </a:pPr>
            <a:r>
              <a:rPr lang="en-US" sz="1500" b="1" dirty="0">
                <a:solidFill>
                  <a:schemeClr val="bg1"/>
                </a:solidFill>
              </a:rPr>
              <a:t>Frontend</a:t>
            </a:r>
            <a:endParaRPr lang="en-US" sz="1500" dirty="0"/>
          </a:p>
        </p:txBody>
      </p:sp>
      <p:sp>
        <p:nvSpPr>
          <p:cNvPr id="7" name="stack Frontend desc"/>
          <p:cNvSpPr txBox="1"/>
          <p:nvPr/>
        </p:nvSpPr>
        <p:spPr>
          <a:xfrm>
            <a:off x="640080" y="2240280"/>
            <a:ext cx="1645920" cy="411480"/>
          </a:xfrm>
          <a:prstGeom prst="rect">
            <a:avLst/>
          </a:prstGeom>
          <a:noFill/>
          <a:ln/>
        </p:spPr>
        <p:txBody>
          <a:bodyPr wrap="square" lIns="0" tIns="0" rIns="0" bIns="0" rtlCol="0" anchor="ctr"/>
          <a:lstStyle/>
          <a:p>
            <a:pPr indent="0" marL="0">
              <a:buNone/>
            </a:pPr>
            <a:r>
              <a:rPr lang="en-US" sz="1100" dirty="0">
                <a:solidFill>
                  <a:schemeClr val="bg2"/>
                </a:solidFill>
              </a:rPr>
              <a:t>React 19 · Vite 8 · nginx (non-root)</a:t>
            </a:r>
            <a:endParaRPr lang="en-US" sz="1100" dirty="0"/>
          </a:p>
        </p:txBody>
      </p:sp>
      <p:sp>
        <p:nvSpPr>
          <p:cNvPr id="8" name="stack card Backend"/>
          <p:cNvSpPr/>
          <p:nvPr/>
        </p:nvSpPr>
        <p:spPr>
          <a:xfrm>
            <a:off x="2560320" y="1143000"/>
            <a:ext cx="1920240" cy="1554480"/>
          </a:xfrm>
          <a:prstGeom prst="roundRect">
            <a:avLst>
              <a:gd name="adj" fmla="val 7059"/>
            </a:avLst>
          </a:prstGeom>
          <a:solidFill>
            <a:schemeClr val="tx2"/>
          </a:solidFill>
          <a:ln w="12700">
            <a:solidFill>
              <a:schemeClr val="tx2"/>
            </a:solidFill>
            <a:prstDash val="solid"/>
          </a:ln>
        </p:spPr>
      </p:sp>
      <p:sp>
        <p:nvSpPr>
          <p:cNvPr id="9" name="Backend circle"/>
          <p:cNvSpPr/>
          <p:nvPr/>
        </p:nvSpPr>
        <p:spPr>
          <a:xfrm>
            <a:off x="2743200" y="1325880"/>
            <a:ext cx="548640" cy="548640"/>
          </a:xfrm>
          <a:prstGeom prst="ellipse">
            <a:avLst/>
          </a:prstGeom>
          <a:solidFill>
            <a:schemeClr val="accent2"/>
          </a:solidFill>
          <a:ln w="12700">
            <a:solidFill>
              <a:schemeClr val="accent2"/>
            </a:solidFill>
            <a:prstDash val="solid"/>
          </a:ln>
        </p:spPr>
      </p:sp>
      <p:pic>
        <p:nvPicPr>
          <p:cNvPr id="10" name="Backend icon" descr="Backend">    </p:cNvPr>
          <p:cNvPicPr>
            <a:picLocks noChangeAspect="1"/>
          </p:cNvPicPr>
          <p:nvPr/>
        </p:nvPicPr>
        <p:blipFill>
          <a:blip r:embed="rId2"/>
          <a:stretch>
            <a:fillRect/>
          </a:stretch>
        </p:blipFill>
        <p:spPr>
          <a:xfrm>
            <a:off x="2880360" y="1463040"/>
            <a:ext cx="274320" cy="274320"/>
          </a:xfrm>
          <a:prstGeom prst="rect">
            <a:avLst/>
          </a:prstGeom>
        </p:spPr>
      </p:pic>
      <p:sp>
        <p:nvSpPr>
          <p:cNvPr id="11" name="stack Backend title"/>
          <p:cNvSpPr txBox="1"/>
          <p:nvPr/>
        </p:nvSpPr>
        <p:spPr>
          <a:xfrm>
            <a:off x="2743200" y="1965960"/>
            <a:ext cx="1600200" cy="274320"/>
          </a:xfrm>
          <a:prstGeom prst="rect">
            <a:avLst/>
          </a:prstGeom>
          <a:noFill/>
          <a:ln/>
        </p:spPr>
        <p:txBody>
          <a:bodyPr wrap="square" lIns="0" tIns="0" rIns="0" bIns="0" rtlCol="0" anchor="ctr"/>
          <a:lstStyle/>
          <a:p>
            <a:pPr indent="0" marL="0">
              <a:buNone/>
            </a:pPr>
            <a:r>
              <a:rPr lang="en-US" sz="1500" b="1" dirty="0">
                <a:solidFill>
                  <a:schemeClr val="bg1"/>
                </a:solidFill>
              </a:rPr>
              <a:t>Backend</a:t>
            </a:r>
            <a:endParaRPr lang="en-US" sz="1500" dirty="0"/>
          </a:p>
        </p:txBody>
      </p:sp>
      <p:sp>
        <p:nvSpPr>
          <p:cNvPr id="12" name="stack Backend desc"/>
          <p:cNvSpPr txBox="1"/>
          <p:nvPr/>
        </p:nvSpPr>
        <p:spPr>
          <a:xfrm>
            <a:off x="2743200" y="2240280"/>
            <a:ext cx="1645920" cy="411480"/>
          </a:xfrm>
          <a:prstGeom prst="rect">
            <a:avLst/>
          </a:prstGeom>
          <a:noFill/>
          <a:ln/>
        </p:spPr>
        <p:txBody>
          <a:bodyPr wrap="square" lIns="0" tIns="0" rIns="0" bIns="0" rtlCol="0" anchor="ctr"/>
          <a:lstStyle/>
          <a:p>
            <a:pPr indent="0" marL="0">
              <a:buNone/>
            </a:pPr>
            <a:r>
              <a:rPr lang="en-US" sz="1100" dirty="0">
                <a:solidFill>
                  <a:schemeClr val="bg2"/>
                </a:solidFill>
              </a:rPr>
              <a:t>Python 3.12 · FastAPI · SQLAlchemy · Alembic</a:t>
            </a:r>
            <a:endParaRPr lang="en-US" sz="1100" dirty="0"/>
          </a:p>
        </p:txBody>
      </p:sp>
      <p:sp>
        <p:nvSpPr>
          <p:cNvPr id="13" name="stack card Database"/>
          <p:cNvSpPr/>
          <p:nvPr/>
        </p:nvSpPr>
        <p:spPr>
          <a:xfrm>
            <a:off x="4663440" y="1143000"/>
            <a:ext cx="1920240" cy="1554480"/>
          </a:xfrm>
          <a:prstGeom prst="roundRect">
            <a:avLst>
              <a:gd name="adj" fmla="val 7059"/>
            </a:avLst>
          </a:prstGeom>
          <a:solidFill>
            <a:schemeClr val="tx2"/>
          </a:solidFill>
          <a:ln w="12700">
            <a:solidFill>
              <a:schemeClr val="tx2"/>
            </a:solidFill>
            <a:prstDash val="solid"/>
          </a:ln>
        </p:spPr>
      </p:sp>
      <p:sp>
        <p:nvSpPr>
          <p:cNvPr id="14" name="Database circle"/>
          <p:cNvSpPr/>
          <p:nvPr/>
        </p:nvSpPr>
        <p:spPr>
          <a:xfrm>
            <a:off x="4846320" y="1325880"/>
            <a:ext cx="548640" cy="548640"/>
          </a:xfrm>
          <a:prstGeom prst="ellipse">
            <a:avLst/>
          </a:prstGeom>
          <a:solidFill>
            <a:schemeClr val="accent1"/>
          </a:solidFill>
          <a:ln w="12700">
            <a:solidFill>
              <a:schemeClr val="accent1"/>
            </a:solidFill>
            <a:prstDash val="solid"/>
          </a:ln>
        </p:spPr>
      </p:sp>
      <p:pic>
        <p:nvPicPr>
          <p:cNvPr id="15" name="Database icon" descr="Database">    </p:cNvPr>
          <p:cNvPicPr>
            <a:picLocks noChangeAspect="1"/>
          </p:cNvPicPr>
          <p:nvPr/>
        </p:nvPicPr>
        <p:blipFill>
          <a:blip r:embed="rId3"/>
          <a:stretch>
            <a:fillRect/>
          </a:stretch>
        </p:blipFill>
        <p:spPr>
          <a:xfrm>
            <a:off x="4983480" y="1463040"/>
            <a:ext cx="274320" cy="274320"/>
          </a:xfrm>
          <a:prstGeom prst="rect">
            <a:avLst/>
          </a:prstGeom>
        </p:spPr>
      </p:pic>
      <p:sp>
        <p:nvSpPr>
          <p:cNvPr id="16" name="stack Database title"/>
          <p:cNvSpPr txBox="1"/>
          <p:nvPr/>
        </p:nvSpPr>
        <p:spPr>
          <a:xfrm>
            <a:off x="4846320" y="1965960"/>
            <a:ext cx="1600200" cy="274320"/>
          </a:xfrm>
          <a:prstGeom prst="rect">
            <a:avLst/>
          </a:prstGeom>
          <a:noFill/>
          <a:ln/>
        </p:spPr>
        <p:txBody>
          <a:bodyPr wrap="square" lIns="0" tIns="0" rIns="0" bIns="0" rtlCol="0" anchor="ctr"/>
          <a:lstStyle/>
          <a:p>
            <a:pPr indent="0" marL="0">
              <a:buNone/>
            </a:pPr>
            <a:r>
              <a:rPr lang="en-US" sz="1500" b="1" dirty="0">
                <a:solidFill>
                  <a:schemeClr val="bg1"/>
                </a:solidFill>
              </a:rPr>
              <a:t>Database</a:t>
            </a:r>
            <a:endParaRPr lang="en-US" sz="1500" dirty="0"/>
          </a:p>
        </p:txBody>
      </p:sp>
      <p:sp>
        <p:nvSpPr>
          <p:cNvPr id="17" name="stack Database desc"/>
          <p:cNvSpPr txBox="1"/>
          <p:nvPr/>
        </p:nvSpPr>
        <p:spPr>
          <a:xfrm>
            <a:off x="4846320" y="2240280"/>
            <a:ext cx="1645920" cy="411480"/>
          </a:xfrm>
          <a:prstGeom prst="rect">
            <a:avLst/>
          </a:prstGeom>
          <a:noFill/>
          <a:ln/>
        </p:spPr>
        <p:txBody>
          <a:bodyPr wrap="square" lIns="0" tIns="0" rIns="0" bIns="0" rtlCol="0" anchor="ctr"/>
          <a:lstStyle/>
          <a:p>
            <a:pPr indent="0" marL="0">
              <a:buNone/>
            </a:pPr>
            <a:r>
              <a:rPr lang="en-US" sz="1100" dirty="0">
                <a:solidFill>
                  <a:schemeClr val="bg2"/>
                </a:solidFill>
              </a:rPr>
              <a:t>PostgreSQL 16 on a gp3 EBS volume</a:t>
            </a:r>
            <a:endParaRPr lang="en-US" sz="1100" dirty="0"/>
          </a:p>
        </p:txBody>
      </p:sp>
      <p:sp>
        <p:nvSpPr>
          <p:cNvPr id="18" name="stack card Containers"/>
          <p:cNvSpPr/>
          <p:nvPr/>
        </p:nvSpPr>
        <p:spPr>
          <a:xfrm>
            <a:off x="6766560" y="1143000"/>
            <a:ext cx="1920240" cy="1554480"/>
          </a:xfrm>
          <a:prstGeom prst="roundRect">
            <a:avLst>
              <a:gd name="adj" fmla="val 7059"/>
            </a:avLst>
          </a:prstGeom>
          <a:solidFill>
            <a:schemeClr val="tx2"/>
          </a:solidFill>
          <a:ln w="12700">
            <a:solidFill>
              <a:schemeClr val="tx2"/>
            </a:solidFill>
            <a:prstDash val="solid"/>
          </a:ln>
        </p:spPr>
      </p:sp>
      <p:sp>
        <p:nvSpPr>
          <p:cNvPr id="19" name="Containers circle"/>
          <p:cNvSpPr/>
          <p:nvPr/>
        </p:nvSpPr>
        <p:spPr>
          <a:xfrm>
            <a:off x="6949440" y="1325880"/>
            <a:ext cx="548640" cy="548640"/>
          </a:xfrm>
          <a:prstGeom prst="ellipse">
            <a:avLst/>
          </a:prstGeom>
          <a:solidFill>
            <a:schemeClr val="accent2"/>
          </a:solidFill>
          <a:ln w="12700">
            <a:solidFill>
              <a:schemeClr val="accent2"/>
            </a:solidFill>
            <a:prstDash val="solid"/>
          </a:ln>
        </p:spPr>
      </p:sp>
      <p:pic>
        <p:nvPicPr>
          <p:cNvPr id="20" name="Containers icon" descr="Containers">    </p:cNvPr>
          <p:cNvPicPr>
            <a:picLocks noChangeAspect="1"/>
          </p:cNvPicPr>
          <p:nvPr/>
        </p:nvPicPr>
        <p:blipFill>
          <a:blip r:embed="rId4"/>
          <a:stretch>
            <a:fillRect/>
          </a:stretch>
        </p:blipFill>
        <p:spPr>
          <a:xfrm>
            <a:off x="7086600" y="1463040"/>
            <a:ext cx="274320" cy="274320"/>
          </a:xfrm>
          <a:prstGeom prst="rect">
            <a:avLst/>
          </a:prstGeom>
        </p:spPr>
      </p:pic>
      <p:sp>
        <p:nvSpPr>
          <p:cNvPr id="21" name="stack Containers title"/>
          <p:cNvSpPr txBox="1"/>
          <p:nvPr/>
        </p:nvSpPr>
        <p:spPr>
          <a:xfrm>
            <a:off x="6949440" y="1965960"/>
            <a:ext cx="1600200" cy="274320"/>
          </a:xfrm>
          <a:prstGeom prst="rect">
            <a:avLst/>
          </a:prstGeom>
          <a:noFill/>
          <a:ln/>
        </p:spPr>
        <p:txBody>
          <a:bodyPr wrap="square" lIns="0" tIns="0" rIns="0" bIns="0" rtlCol="0" anchor="ctr"/>
          <a:lstStyle/>
          <a:p>
            <a:pPr indent="0" marL="0">
              <a:buNone/>
            </a:pPr>
            <a:r>
              <a:rPr lang="en-US" sz="1500" b="1" dirty="0">
                <a:solidFill>
                  <a:schemeClr val="bg1"/>
                </a:solidFill>
              </a:rPr>
              <a:t>Containers</a:t>
            </a:r>
            <a:endParaRPr lang="en-US" sz="1500" dirty="0"/>
          </a:p>
        </p:txBody>
      </p:sp>
      <p:sp>
        <p:nvSpPr>
          <p:cNvPr id="22" name="stack Containers desc"/>
          <p:cNvSpPr txBox="1"/>
          <p:nvPr/>
        </p:nvSpPr>
        <p:spPr>
          <a:xfrm>
            <a:off x="6949440" y="2240280"/>
            <a:ext cx="1645920" cy="411480"/>
          </a:xfrm>
          <a:prstGeom prst="rect">
            <a:avLst/>
          </a:prstGeom>
          <a:noFill/>
          <a:ln/>
        </p:spPr>
        <p:txBody>
          <a:bodyPr wrap="square" lIns="0" tIns="0" rIns="0" bIns="0" rtlCol="0" anchor="ctr"/>
          <a:lstStyle/>
          <a:p>
            <a:pPr indent="0" marL="0">
              <a:buNone/>
            </a:pPr>
            <a:r>
              <a:rPr lang="en-US" sz="1100" dirty="0">
                <a:solidFill>
                  <a:schemeClr val="bg2"/>
                </a:solidFill>
              </a:rPr>
              <a:t>Docker multi-stage · Compose</a:t>
            </a:r>
            <a:endParaRPr lang="en-US" sz="1100" dirty="0"/>
          </a:p>
        </p:txBody>
      </p:sp>
      <p:sp>
        <p:nvSpPr>
          <p:cNvPr id="23" name="stack card CI/CD"/>
          <p:cNvSpPr/>
          <p:nvPr/>
        </p:nvSpPr>
        <p:spPr>
          <a:xfrm>
            <a:off x="457200" y="2880360"/>
            <a:ext cx="1920240" cy="1554480"/>
          </a:xfrm>
          <a:prstGeom prst="roundRect">
            <a:avLst>
              <a:gd name="adj" fmla="val 7059"/>
            </a:avLst>
          </a:prstGeom>
          <a:solidFill>
            <a:schemeClr val="tx2"/>
          </a:solidFill>
          <a:ln w="12700">
            <a:solidFill>
              <a:schemeClr val="tx2"/>
            </a:solidFill>
            <a:prstDash val="solid"/>
          </a:ln>
        </p:spPr>
      </p:sp>
      <p:sp>
        <p:nvSpPr>
          <p:cNvPr id="24" name="CI/CD circle"/>
          <p:cNvSpPr/>
          <p:nvPr/>
        </p:nvSpPr>
        <p:spPr>
          <a:xfrm>
            <a:off x="640080" y="3063240"/>
            <a:ext cx="548640" cy="548640"/>
          </a:xfrm>
          <a:prstGeom prst="ellipse">
            <a:avLst/>
          </a:prstGeom>
          <a:solidFill>
            <a:schemeClr val="accent1"/>
          </a:solidFill>
          <a:ln w="12700">
            <a:solidFill>
              <a:schemeClr val="accent1"/>
            </a:solidFill>
            <a:prstDash val="solid"/>
          </a:ln>
        </p:spPr>
      </p:sp>
      <p:pic>
        <p:nvPicPr>
          <p:cNvPr id="25" name="CI/CD icon" descr="CI/CD">    </p:cNvPr>
          <p:cNvPicPr>
            <a:picLocks noChangeAspect="1"/>
          </p:cNvPicPr>
          <p:nvPr/>
        </p:nvPicPr>
        <p:blipFill>
          <a:blip r:embed="rId5"/>
          <a:stretch>
            <a:fillRect/>
          </a:stretch>
        </p:blipFill>
        <p:spPr>
          <a:xfrm>
            <a:off x="777240" y="3200400"/>
            <a:ext cx="274320" cy="274320"/>
          </a:xfrm>
          <a:prstGeom prst="rect">
            <a:avLst/>
          </a:prstGeom>
        </p:spPr>
      </p:pic>
      <p:sp>
        <p:nvSpPr>
          <p:cNvPr id="26" name="stack CI/CD title"/>
          <p:cNvSpPr txBox="1"/>
          <p:nvPr/>
        </p:nvSpPr>
        <p:spPr>
          <a:xfrm>
            <a:off x="640080" y="3703320"/>
            <a:ext cx="1600200" cy="274320"/>
          </a:xfrm>
          <a:prstGeom prst="rect">
            <a:avLst/>
          </a:prstGeom>
          <a:noFill/>
          <a:ln/>
        </p:spPr>
        <p:txBody>
          <a:bodyPr wrap="square" lIns="0" tIns="0" rIns="0" bIns="0" rtlCol="0" anchor="ctr"/>
          <a:lstStyle/>
          <a:p>
            <a:pPr indent="0" marL="0">
              <a:buNone/>
            </a:pPr>
            <a:r>
              <a:rPr lang="en-US" sz="1500" b="1" dirty="0">
                <a:solidFill>
                  <a:schemeClr val="bg1"/>
                </a:solidFill>
              </a:rPr>
              <a:t>CI/CD</a:t>
            </a:r>
            <a:endParaRPr lang="en-US" sz="1500" dirty="0"/>
          </a:p>
        </p:txBody>
      </p:sp>
      <p:sp>
        <p:nvSpPr>
          <p:cNvPr id="27" name="stack CI/CD desc"/>
          <p:cNvSpPr txBox="1"/>
          <p:nvPr/>
        </p:nvSpPr>
        <p:spPr>
          <a:xfrm>
            <a:off x="640080" y="3977640"/>
            <a:ext cx="1645920" cy="411480"/>
          </a:xfrm>
          <a:prstGeom prst="rect">
            <a:avLst/>
          </a:prstGeom>
          <a:noFill/>
          <a:ln/>
        </p:spPr>
        <p:txBody>
          <a:bodyPr wrap="square" lIns="0" tIns="0" rIns="0" bIns="0" rtlCol="0" anchor="ctr"/>
          <a:lstStyle/>
          <a:p>
            <a:pPr indent="0" marL="0">
              <a:buNone/>
            </a:pPr>
            <a:r>
              <a:rPr lang="en-US" sz="1100" dirty="0">
                <a:solidFill>
                  <a:schemeClr val="bg2"/>
                </a:solidFill>
              </a:rPr>
              <a:t>GitHub Actions · GHCR · Trivy</a:t>
            </a:r>
            <a:endParaRPr lang="en-US" sz="1100" dirty="0"/>
          </a:p>
        </p:txBody>
      </p:sp>
      <p:sp>
        <p:nvSpPr>
          <p:cNvPr id="28" name="stack card Infrastructure"/>
          <p:cNvSpPr/>
          <p:nvPr/>
        </p:nvSpPr>
        <p:spPr>
          <a:xfrm>
            <a:off x="2560320" y="2880360"/>
            <a:ext cx="1920240" cy="1554480"/>
          </a:xfrm>
          <a:prstGeom prst="roundRect">
            <a:avLst>
              <a:gd name="adj" fmla="val 7059"/>
            </a:avLst>
          </a:prstGeom>
          <a:solidFill>
            <a:schemeClr val="tx2"/>
          </a:solidFill>
          <a:ln w="12700">
            <a:solidFill>
              <a:schemeClr val="tx2"/>
            </a:solidFill>
            <a:prstDash val="solid"/>
          </a:ln>
        </p:spPr>
      </p:sp>
      <p:sp>
        <p:nvSpPr>
          <p:cNvPr id="29" name="Infrastructure circle"/>
          <p:cNvSpPr/>
          <p:nvPr/>
        </p:nvSpPr>
        <p:spPr>
          <a:xfrm>
            <a:off x="2743200" y="3063240"/>
            <a:ext cx="548640" cy="548640"/>
          </a:xfrm>
          <a:prstGeom prst="ellipse">
            <a:avLst/>
          </a:prstGeom>
          <a:solidFill>
            <a:schemeClr val="accent2"/>
          </a:solidFill>
          <a:ln w="12700">
            <a:solidFill>
              <a:schemeClr val="accent2"/>
            </a:solidFill>
            <a:prstDash val="solid"/>
          </a:ln>
        </p:spPr>
      </p:sp>
      <p:pic>
        <p:nvPicPr>
          <p:cNvPr id="30" name="Infrastructure icon" descr="Infrastructure">    </p:cNvPr>
          <p:cNvPicPr>
            <a:picLocks noChangeAspect="1"/>
          </p:cNvPicPr>
          <p:nvPr/>
        </p:nvPicPr>
        <p:blipFill>
          <a:blip r:embed="rId6"/>
          <a:stretch>
            <a:fillRect/>
          </a:stretch>
        </p:blipFill>
        <p:spPr>
          <a:xfrm>
            <a:off x="2880360" y="3200400"/>
            <a:ext cx="274320" cy="274320"/>
          </a:xfrm>
          <a:prstGeom prst="rect">
            <a:avLst/>
          </a:prstGeom>
        </p:spPr>
      </p:pic>
      <p:sp>
        <p:nvSpPr>
          <p:cNvPr id="31" name="stack Infrastructure title"/>
          <p:cNvSpPr txBox="1"/>
          <p:nvPr/>
        </p:nvSpPr>
        <p:spPr>
          <a:xfrm>
            <a:off x="2743200" y="3703320"/>
            <a:ext cx="1600200" cy="274320"/>
          </a:xfrm>
          <a:prstGeom prst="rect">
            <a:avLst/>
          </a:prstGeom>
          <a:noFill/>
          <a:ln/>
        </p:spPr>
        <p:txBody>
          <a:bodyPr wrap="square" lIns="0" tIns="0" rIns="0" bIns="0" rtlCol="0" anchor="ctr"/>
          <a:lstStyle/>
          <a:p>
            <a:pPr indent="0" marL="0">
              <a:buNone/>
            </a:pPr>
            <a:r>
              <a:rPr lang="en-US" sz="1500" b="1" dirty="0">
                <a:solidFill>
                  <a:schemeClr val="bg1"/>
                </a:solidFill>
              </a:rPr>
              <a:t>Infrastructure</a:t>
            </a:r>
            <a:endParaRPr lang="en-US" sz="1500" dirty="0"/>
          </a:p>
        </p:txBody>
      </p:sp>
      <p:sp>
        <p:nvSpPr>
          <p:cNvPr id="32" name="stack Infrastructure desc"/>
          <p:cNvSpPr txBox="1"/>
          <p:nvPr/>
        </p:nvSpPr>
        <p:spPr>
          <a:xfrm>
            <a:off x="2743200" y="3977640"/>
            <a:ext cx="1645920" cy="411480"/>
          </a:xfrm>
          <a:prstGeom prst="rect">
            <a:avLst/>
          </a:prstGeom>
          <a:noFill/>
          <a:ln/>
        </p:spPr>
        <p:txBody>
          <a:bodyPr wrap="square" lIns="0" tIns="0" rIns="0" bIns="0" rtlCol="0" anchor="ctr"/>
          <a:lstStyle/>
          <a:p>
            <a:pPr indent="0" marL="0">
              <a:buNone/>
            </a:pPr>
            <a:r>
              <a:rPr lang="en-US" sz="1100" dirty="0">
                <a:solidFill>
                  <a:schemeClr val="bg2"/>
                </a:solidFill>
              </a:rPr>
              <a:t>Terraform · AWS VPC · EKS 1.36</a:t>
            </a:r>
            <a:endParaRPr lang="en-US" sz="1100" dirty="0"/>
          </a:p>
        </p:txBody>
      </p:sp>
      <p:sp>
        <p:nvSpPr>
          <p:cNvPr id="33" name="stack card Kubernetes"/>
          <p:cNvSpPr/>
          <p:nvPr/>
        </p:nvSpPr>
        <p:spPr>
          <a:xfrm>
            <a:off x="4663440" y="2880360"/>
            <a:ext cx="1920240" cy="1554480"/>
          </a:xfrm>
          <a:prstGeom prst="roundRect">
            <a:avLst>
              <a:gd name="adj" fmla="val 7059"/>
            </a:avLst>
          </a:prstGeom>
          <a:solidFill>
            <a:schemeClr val="tx2"/>
          </a:solidFill>
          <a:ln w="12700">
            <a:solidFill>
              <a:schemeClr val="tx2"/>
            </a:solidFill>
            <a:prstDash val="solid"/>
          </a:ln>
        </p:spPr>
      </p:sp>
      <p:sp>
        <p:nvSpPr>
          <p:cNvPr id="34" name="Kubernetes circle"/>
          <p:cNvSpPr/>
          <p:nvPr/>
        </p:nvSpPr>
        <p:spPr>
          <a:xfrm>
            <a:off x="4846320" y="3063240"/>
            <a:ext cx="548640" cy="548640"/>
          </a:xfrm>
          <a:prstGeom prst="ellipse">
            <a:avLst/>
          </a:prstGeom>
          <a:solidFill>
            <a:schemeClr val="accent1"/>
          </a:solidFill>
          <a:ln w="12700">
            <a:solidFill>
              <a:schemeClr val="accent1"/>
            </a:solidFill>
            <a:prstDash val="solid"/>
          </a:ln>
        </p:spPr>
      </p:sp>
      <p:pic>
        <p:nvPicPr>
          <p:cNvPr id="35" name="Kubernetes icon" descr="Kubernetes">    </p:cNvPr>
          <p:cNvPicPr>
            <a:picLocks noChangeAspect="1"/>
          </p:cNvPicPr>
          <p:nvPr/>
        </p:nvPicPr>
        <p:blipFill>
          <a:blip r:embed="rId7"/>
          <a:stretch>
            <a:fillRect/>
          </a:stretch>
        </p:blipFill>
        <p:spPr>
          <a:xfrm>
            <a:off x="4983480" y="3200400"/>
            <a:ext cx="274320" cy="274320"/>
          </a:xfrm>
          <a:prstGeom prst="rect">
            <a:avLst/>
          </a:prstGeom>
        </p:spPr>
      </p:pic>
      <p:sp>
        <p:nvSpPr>
          <p:cNvPr id="36" name="stack Kubernetes title"/>
          <p:cNvSpPr txBox="1"/>
          <p:nvPr/>
        </p:nvSpPr>
        <p:spPr>
          <a:xfrm>
            <a:off x="4846320" y="3703320"/>
            <a:ext cx="1600200" cy="274320"/>
          </a:xfrm>
          <a:prstGeom prst="rect">
            <a:avLst/>
          </a:prstGeom>
          <a:noFill/>
          <a:ln/>
        </p:spPr>
        <p:txBody>
          <a:bodyPr wrap="square" lIns="0" tIns="0" rIns="0" bIns="0" rtlCol="0" anchor="ctr"/>
          <a:lstStyle/>
          <a:p>
            <a:pPr indent="0" marL="0">
              <a:buNone/>
            </a:pPr>
            <a:r>
              <a:rPr lang="en-US" sz="1500" b="1" dirty="0">
                <a:solidFill>
                  <a:schemeClr val="bg1"/>
                </a:solidFill>
              </a:rPr>
              <a:t>Kubernetes</a:t>
            </a:r>
            <a:endParaRPr lang="en-US" sz="1500" dirty="0"/>
          </a:p>
        </p:txBody>
      </p:sp>
      <p:sp>
        <p:nvSpPr>
          <p:cNvPr id="37" name="stack Kubernetes desc"/>
          <p:cNvSpPr txBox="1"/>
          <p:nvPr/>
        </p:nvSpPr>
        <p:spPr>
          <a:xfrm>
            <a:off x="4846320" y="3977640"/>
            <a:ext cx="1645920" cy="411480"/>
          </a:xfrm>
          <a:prstGeom prst="rect">
            <a:avLst/>
          </a:prstGeom>
          <a:noFill/>
          <a:ln/>
        </p:spPr>
        <p:txBody>
          <a:bodyPr wrap="square" lIns="0" tIns="0" rIns="0" bIns="0" rtlCol="0" anchor="ctr"/>
          <a:lstStyle/>
          <a:p>
            <a:pPr indent="0" marL="0">
              <a:buNone/>
            </a:pPr>
            <a:r>
              <a:rPr lang="en-US" sz="1100" dirty="0">
                <a:solidFill>
                  <a:schemeClr val="bg2"/>
                </a:solidFill>
              </a:rPr>
              <a:t>Helm · ALB Ingress · HPA · Argo CD</a:t>
            </a:r>
            <a:endParaRPr lang="en-US" sz="1100" dirty="0"/>
          </a:p>
        </p:txBody>
      </p:sp>
      <p:sp>
        <p:nvSpPr>
          <p:cNvPr id="38" name="stack card Observability"/>
          <p:cNvSpPr/>
          <p:nvPr/>
        </p:nvSpPr>
        <p:spPr>
          <a:xfrm>
            <a:off x="6766560" y="2880360"/>
            <a:ext cx="1920240" cy="1554480"/>
          </a:xfrm>
          <a:prstGeom prst="roundRect">
            <a:avLst>
              <a:gd name="adj" fmla="val 7059"/>
            </a:avLst>
          </a:prstGeom>
          <a:solidFill>
            <a:schemeClr val="tx2"/>
          </a:solidFill>
          <a:ln w="12700">
            <a:solidFill>
              <a:schemeClr val="tx2"/>
            </a:solidFill>
            <a:prstDash val="solid"/>
          </a:ln>
        </p:spPr>
      </p:sp>
      <p:sp>
        <p:nvSpPr>
          <p:cNvPr id="39" name="Observability circle"/>
          <p:cNvSpPr/>
          <p:nvPr/>
        </p:nvSpPr>
        <p:spPr>
          <a:xfrm>
            <a:off x="6949440" y="3063240"/>
            <a:ext cx="548640" cy="548640"/>
          </a:xfrm>
          <a:prstGeom prst="ellipse">
            <a:avLst/>
          </a:prstGeom>
          <a:solidFill>
            <a:schemeClr val="accent2"/>
          </a:solidFill>
          <a:ln w="12700">
            <a:solidFill>
              <a:schemeClr val="accent2"/>
            </a:solidFill>
            <a:prstDash val="solid"/>
          </a:ln>
        </p:spPr>
      </p:sp>
      <p:pic>
        <p:nvPicPr>
          <p:cNvPr id="40" name="Observability icon" descr="Observability">    </p:cNvPr>
          <p:cNvPicPr>
            <a:picLocks noChangeAspect="1"/>
          </p:cNvPicPr>
          <p:nvPr/>
        </p:nvPicPr>
        <p:blipFill>
          <a:blip r:embed="rId8"/>
          <a:stretch>
            <a:fillRect/>
          </a:stretch>
        </p:blipFill>
        <p:spPr>
          <a:xfrm>
            <a:off x="7086600" y="3200400"/>
            <a:ext cx="274320" cy="274320"/>
          </a:xfrm>
          <a:prstGeom prst="rect">
            <a:avLst/>
          </a:prstGeom>
        </p:spPr>
      </p:pic>
      <p:sp>
        <p:nvSpPr>
          <p:cNvPr id="41" name="stack Observability title"/>
          <p:cNvSpPr txBox="1"/>
          <p:nvPr/>
        </p:nvSpPr>
        <p:spPr>
          <a:xfrm>
            <a:off x="6949440" y="3703320"/>
            <a:ext cx="1600200" cy="274320"/>
          </a:xfrm>
          <a:prstGeom prst="rect">
            <a:avLst/>
          </a:prstGeom>
          <a:noFill/>
          <a:ln/>
        </p:spPr>
        <p:txBody>
          <a:bodyPr wrap="square" lIns="0" tIns="0" rIns="0" bIns="0" rtlCol="0" anchor="ctr"/>
          <a:lstStyle/>
          <a:p>
            <a:pPr indent="0" marL="0">
              <a:buNone/>
            </a:pPr>
            <a:r>
              <a:rPr lang="en-US" sz="1500" b="1" dirty="0">
                <a:solidFill>
                  <a:schemeClr val="bg1"/>
                </a:solidFill>
              </a:rPr>
              <a:t>Observability</a:t>
            </a:r>
            <a:endParaRPr lang="en-US" sz="1500" dirty="0"/>
          </a:p>
        </p:txBody>
      </p:sp>
      <p:sp>
        <p:nvSpPr>
          <p:cNvPr id="42" name="stack Observability desc"/>
          <p:cNvSpPr txBox="1"/>
          <p:nvPr/>
        </p:nvSpPr>
        <p:spPr>
          <a:xfrm>
            <a:off x="6949440" y="3977640"/>
            <a:ext cx="1645920" cy="411480"/>
          </a:xfrm>
          <a:prstGeom prst="rect">
            <a:avLst/>
          </a:prstGeom>
          <a:noFill/>
          <a:ln/>
        </p:spPr>
        <p:txBody>
          <a:bodyPr wrap="square" lIns="0" tIns="0" rIns="0" bIns="0" rtlCol="0" anchor="ctr"/>
          <a:lstStyle/>
          <a:p>
            <a:pPr indent="0" marL="0">
              <a:buNone/>
            </a:pPr>
            <a:r>
              <a:rPr lang="en-US" sz="1100" dirty="0">
                <a:solidFill>
                  <a:schemeClr val="bg2"/>
                </a:solidFill>
              </a:rPr>
              <a:t>Prometheus · Grafana · ServiceMonitor</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Architecture</a:t>
            </a:r>
            <a:endParaRPr lang="en-US" sz="3000" dirty="0"/>
          </a:p>
        </p:txBody>
      </p:sp>
      <p:sp>
        <p:nvSpPr>
          <p:cNvPr id="3" name="EKS cluster boundary"/>
          <p:cNvSpPr/>
          <p:nvPr/>
        </p:nvSpPr>
        <p:spPr>
          <a:xfrm>
            <a:off x="2286000" y="1005840"/>
            <a:ext cx="6400800" cy="2514600"/>
          </a:xfrm>
          <a:prstGeom prst="roundRect">
            <a:avLst>
              <a:gd name="adj" fmla="val 3636"/>
            </a:avLst>
          </a:prstGeom>
          <a:solidFill>
            <a:schemeClr val="tx1"/>
          </a:solidFill>
          <a:ln w="12700">
            <a:solidFill>
              <a:schemeClr val="accent6"/>
            </a:solidFill>
            <a:prstDash val="dash"/>
          </a:ln>
        </p:spPr>
      </p:sp>
      <p:sp>
        <p:nvSpPr>
          <p:cNvPr id="4" name="cluster label"/>
          <p:cNvSpPr txBox="1"/>
          <p:nvPr/>
        </p:nvSpPr>
        <p:spPr>
          <a:xfrm>
            <a:off x="2423160" y="1051560"/>
            <a:ext cx="4572000" cy="256032"/>
          </a:xfrm>
          <a:prstGeom prst="rect">
            <a:avLst/>
          </a:prstGeom>
          <a:noFill/>
          <a:ln/>
        </p:spPr>
        <p:txBody>
          <a:bodyPr wrap="square" lIns="0" tIns="0" rIns="0" bIns="0" rtlCol="0" anchor="ctr"/>
          <a:lstStyle/>
          <a:p>
            <a:pPr indent="0" marL="0">
              <a:buNone/>
            </a:pPr>
            <a:r>
              <a:rPr lang="en-US" sz="1000" dirty="0">
                <a:solidFill>
                  <a:schemeClr val="accent6"/>
                </a:solidFill>
              </a:rPr>
              <a:t>Amazon EKS · VPC 10.20.0.0/16 · ap-southeast-2</a:t>
            </a:r>
            <a:endParaRPr lang="en-US" sz="1000" dirty="0"/>
          </a:p>
        </p:txBody>
      </p:sp>
      <p:sp>
        <p:nvSpPr>
          <p:cNvPr id="5" name="browser box"/>
          <p:cNvSpPr/>
          <p:nvPr/>
        </p:nvSpPr>
        <p:spPr>
          <a:xfrm>
            <a:off x="457200" y="1508760"/>
            <a:ext cx="1325880" cy="566928"/>
          </a:xfrm>
          <a:prstGeom prst="roundRect">
            <a:avLst>
              <a:gd name="adj" fmla="val 12903"/>
            </a:avLst>
          </a:prstGeom>
          <a:solidFill>
            <a:schemeClr val="tx2"/>
          </a:solidFill>
          <a:ln w="15875">
            <a:solidFill>
              <a:schemeClr val="accent6"/>
            </a:solidFill>
            <a:prstDash val="solid"/>
          </a:ln>
        </p:spPr>
      </p:sp>
      <p:sp>
        <p:nvSpPr>
          <p:cNvPr id="6" name="browser label"/>
          <p:cNvSpPr txBox="1"/>
          <p:nvPr/>
        </p:nvSpPr>
        <p:spPr>
          <a:xfrm>
            <a:off x="457200" y="150876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Browser</a:t>
            </a:r>
            <a:endParaRPr lang="en-US" sz="1200" dirty="0"/>
          </a:p>
          <a:p>
            <a:pPr algn="ctr" indent="0" marL="0">
              <a:buNone/>
            </a:pPr>
            <a:r>
              <a:rPr lang="en-US" sz="1000" dirty="0">
                <a:solidFill>
                  <a:schemeClr val="bg2"/>
                </a:solidFill>
              </a:rPr>
              <a:t>LiftLog UI</a:t>
            </a:r>
            <a:endParaRPr lang="en-US" sz="1200" dirty="0"/>
          </a:p>
        </p:txBody>
      </p:sp>
      <p:sp>
        <p:nvSpPr>
          <p:cNvPr id="7" name="alb box"/>
          <p:cNvSpPr/>
          <p:nvPr/>
        </p:nvSpPr>
        <p:spPr>
          <a:xfrm>
            <a:off x="2468880" y="1508760"/>
            <a:ext cx="1325880" cy="566928"/>
          </a:xfrm>
          <a:prstGeom prst="roundRect">
            <a:avLst>
              <a:gd name="adj" fmla="val 12903"/>
            </a:avLst>
          </a:prstGeom>
          <a:solidFill>
            <a:schemeClr val="tx2"/>
          </a:solidFill>
          <a:ln w="15875">
            <a:solidFill>
              <a:schemeClr val="accent1"/>
            </a:solidFill>
            <a:prstDash val="solid"/>
          </a:ln>
        </p:spPr>
      </p:sp>
      <p:sp>
        <p:nvSpPr>
          <p:cNvPr id="8" name="alb label"/>
          <p:cNvSpPr txBox="1"/>
          <p:nvPr/>
        </p:nvSpPr>
        <p:spPr>
          <a:xfrm>
            <a:off x="2468880" y="150876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ALB Ingress</a:t>
            </a:r>
            <a:endParaRPr lang="en-US" sz="1200" dirty="0"/>
          </a:p>
          <a:p>
            <a:pPr algn="ctr" indent="0" marL="0">
              <a:buNone/>
            </a:pPr>
            <a:r>
              <a:rPr lang="en-US" sz="1000" dirty="0">
                <a:solidFill>
                  <a:schemeClr val="bg2"/>
                </a:solidFill>
              </a:rPr>
              <a:t>/ web · /api api</a:t>
            </a:r>
            <a:endParaRPr lang="en-US" sz="1200" dirty="0"/>
          </a:p>
        </p:txBody>
      </p:sp>
      <p:sp>
        <p:nvSpPr>
          <p:cNvPr id="9" name="frontend box"/>
          <p:cNvSpPr/>
          <p:nvPr/>
        </p:nvSpPr>
        <p:spPr>
          <a:xfrm>
            <a:off x="4069080" y="1508760"/>
            <a:ext cx="1325880" cy="566928"/>
          </a:xfrm>
          <a:prstGeom prst="roundRect">
            <a:avLst>
              <a:gd name="adj" fmla="val 12903"/>
            </a:avLst>
          </a:prstGeom>
          <a:solidFill>
            <a:schemeClr val="tx2"/>
          </a:solidFill>
          <a:ln w="15875">
            <a:solidFill>
              <a:schemeClr val="accent1"/>
            </a:solidFill>
            <a:prstDash val="solid"/>
          </a:ln>
        </p:spPr>
      </p:sp>
      <p:sp>
        <p:nvSpPr>
          <p:cNvPr id="10" name="frontend label"/>
          <p:cNvSpPr txBox="1"/>
          <p:nvPr/>
        </p:nvSpPr>
        <p:spPr>
          <a:xfrm>
            <a:off x="4069080" y="150876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frontend ×2</a:t>
            </a:r>
            <a:endParaRPr lang="en-US" sz="1200" dirty="0"/>
          </a:p>
          <a:p>
            <a:pPr algn="ctr" indent="0" marL="0">
              <a:buNone/>
            </a:pPr>
            <a:r>
              <a:rPr lang="en-US" sz="1000" dirty="0">
                <a:solidFill>
                  <a:schemeClr val="bg2"/>
                </a:solidFill>
              </a:rPr>
              <a:t>React · nginx</a:t>
            </a:r>
            <a:endParaRPr lang="en-US" sz="1200" dirty="0"/>
          </a:p>
        </p:txBody>
      </p:sp>
      <p:sp>
        <p:nvSpPr>
          <p:cNvPr id="11" name="backend box"/>
          <p:cNvSpPr/>
          <p:nvPr/>
        </p:nvSpPr>
        <p:spPr>
          <a:xfrm>
            <a:off x="5669280" y="1508760"/>
            <a:ext cx="1325880" cy="566928"/>
          </a:xfrm>
          <a:prstGeom prst="roundRect">
            <a:avLst>
              <a:gd name="adj" fmla="val 12903"/>
            </a:avLst>
          </a:prstGeom>
          <a:solidFill>
            <a:schemeClr val="tx2"/>
          </a:solidFill>
          <a:ln w="15875">
            <a:solidFill>
              <a:schemeClr val="accent1"/>
            </a:solidFill>
            <a:prstDash val="solid"/>
          </a:ln>
        </p:spPr>
      </p:sp>
      <p:sp>
        <p:nvSpPr>
          <p:cNvPr id="12" name="backend label"/>
          <p:cNvSpPr txBox="1"/>
          <p:nvPr/>
        </p:nvSpPr>
        <p:spPr>
          <a:xfrm>
            <a:off x="5669280" y="150876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backend ×2</a:t>
            </a:r>
            <a:endParaRPr lang="en-US" sz="1200" dirty="0"/>
          </a:p>
          <a:p>
            <a:pPr algn="ctr" indent="0" marL="0">
              <a:buNone/>
            </a:pPr>
            <a:r>
              <a:rPr lang="en-US" sz="1000" dirty="0">
                <a:solidFill>
                  <a:schemeClr val="bg2"/>
                </a:solidFill>
              </a:rPr>
              <a:t>FastAPI · HPA 2–6</a:t>
            </a:r>
            <a:endParaRPr lang="en-US" sz="1200" dirty="0"/>
          </a:p>
        </p:txBody>
      </p:sp>
      <p:sp>
        <p:nvSpPr>
          <p:cNvPr id="13" name="postgres box"/>
          <p:cNvSpPr/>
          <p:nvPr/>
        </p:nvSpPr>
        <p:spPr>
          <a:xfrm>
            <a:off x="7269480" y="1508760"/>
            <a:ext cx="1325880" cy="566928"/>
          </a:xfrm>
          <a:prstGeom prst="roundRect">
            <a:avLst>
              <a:gd name="adj" fmla="val 12903"/>
            </a:avLst>
          </a:prstGeom>
          <a:solidFill>
            <a:schemeClr val="tx2"/>
          </a:solidFill>
          <a:ln w="15875">
            <a:solidFill>
              <a:schemeClr val="accent1"/>
            </a:solidFill>
            <a:prstDash val="solid"/>
          </a:ln>
        </p:spPr>
      </p:sp>
      <p:sp>
        <p:nvSpPr>
          <p:cNvPr id="14" name="postgres label"/>
          <p:cNvSpPr txBox="1"/>
          <p:nvPr/>
        </p:nvSpPr>
        <p:spPr>
          <a:xfrm>
            <a:off x="7269480" y="150876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PostgreSQL</a:t>
            </a:r>
            <a:endParaRPr lang="en-US" sz="1200" dirty="0"/>
          </a:p>
          <a:p>
            <a:pPr algn="ctr" indent="0" marL="0">
              <a:buNone/>
            </a:pPr>
            <a:r>
              <a:rPr lang="en-US" sz="1000" dirty="0">
                <a:solidFill>
                  <a:schemeClr val="bg2"/>
                </a:solidFill>
              </a:rPr>
              <a:t>gp3 EBS volume</a:t>
            </a:r>
            <a:endParaRPr lang="en-US" sz="1200" dirty="0"/>
          </a:p>
        </p:txBody>
      </p:sp>
      <p:sp>
        <p:nvSpPr>
          <p:cNvPr id="15" name="argocd box"/>
          <p:cNvSpPr/>
          <p:nvPr/>
        </p:nvSpPr>
        <p:spPr>
          <a:xfrm>
            <a:off x="4069080" y="2697480"/>
            <a:ext cx="1325880" cy="566928"/>
          </a:xfrm>
          <a:prstGeom prst="roundRect">
            <a:avLst>
              <a:gd name="adj" fmla="val 12903"/>
            </a:avLst>
          </a:prstGeom>
          <a:solidFill>
            <a:schemeClr val="tx2"/>
          </a:solidFill>
          <a:ln w="15875">
            <a:solidFill>
              <a:schemeClr val="accent2"/>
            </a:solidFill>
            <a:prstDash val="solid"/>
          </a:ln>
        </p:spPr>
      </p:sp>
      <p:sp>
        <p:nvSpPr>
          <p:cNvPr id="16" name="argocd label"/>
          <p:cNvSpPr txBox="1"/>
          <p:nvPr/>
        </p:nvSpPr>
        <p:spPr>
          <a:xfrm>
            <a:off x="4069080" y="269748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Argo CD</a:t>
            </a:r>
            <a:endParaRPr lang="en-US" sz="1200" dirty="0"/>
          </a:p>
          <a:p>
            <a:pPr algn="ctr" indent="0" marL="0">
              <a:buNone/>
            </a:pPr>
            <a:r>
              <a:rPr lang="en-US" sz="1000" dirty="0">
                <a:solidFill>
                  <a:schemeClr val="bg2"/>
                </a:solidFill>
              </a:rPr>
              <a:t>GitOps sync</a:t>
            </a:r>
            <a:endParaRPr lang="en-US" sz="1200" dirty="0"/>
          </a:p>
        </p:txBody>
      </p:sp>
      <p:sp>
        <p:nvSpPr>
          <p:cNvPr id="17" name="prometheus box"/>
          <p:cNvSpPr/>
          <p:nvPr/>
        </p:nvSpPr>
        <p:spPr>
          <a:xfrm>
            <a:off x="5669280" y="2697480"/>
            <a:ext cx="1325880" cy="566928"/>
          </a:xfrm>
          <a:prstGeom prst="roundRect">
            <a:avLst>
              <a:gd name="adj" fmla="val 12903"/>
            </a:avLst>
          </a:prstGeom>
          <a:solidFill>
            <a:schemeClr val="tx2"/>
          </a:solidFill>
          <a:ln w="15875">
            <a:solidFill>
              <a:schemeClr val="accent4"/>
            </a:solidFill>
            <a:prstDash val="solid"/>
          </a:ln>
        </p:spPr>
      </p:sp>
      <p:sp>
        <p:nvSpPr>
          <p:cNvPr id="18" name="prometheus label"/>
          <p:cNvSpPr txBox="1"/>
          <p:nvPr/>
        </p:nvSpPr>
        <p:spPr>
          <a:xfrm>
            <a:off x="5669280" y="269748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Prometheus</a:t>
            </a:r>
            <a:endParaRPr lang="en-US" sz="1200" dirty="0"/>
          </a:p>
          <a:p>
            <a:pPr algn="ctr" indent="0" marL="0">
              <a:buNone/>
            </a:pPr>
            <a:r>
              <a:rPr lang="en-US" sz="1000" dirty="0">
                <a:solidFill>
                  <a:schemeClr val="bg2"/>
                </a:solidFill>
              </a:rPr>
              <a:t>+ Grafana</a:t>
            </a:r>
            <a:endParaRPr lang="en-US" sz="1200" dirty="0"/>
          </a:p>
        </p:txBody>
      </p:sp>
      <p:sp>
        <p:nvSpPr>
          <p:cNvPr id="19" name="developer box"/>
          <p:cNvSpPr/>
          <p:nvPr/>
        </p:nvSpPr>
        <p:spPr>
          <a:xfrm>
            <a:off x="457200" y="3931920"/>
            <a:ext cx="1325880" cy="566928"/>
          </a:xfrm>
          <a:prstGeom prst="roundRect">
            <a:avLst>
              <a:gd name="adj" fmla="val 12903"/>
            </a:avLst>
          </a:prstGeom>
          <a:solidFill>
            <a:schemeClr val="tx2"/>
          </a:solidFill>
          <a:ln w="15875">
            <a:solidFill>
              <a:schemeClr val="accent6"/>
            </a:solidFill>
            <a:prstDash val="solid"/>
          </a:ln>
        </p:spPr>
      </p:sp>
      <p:sp>
        <p:nvSpPr>
          <p:cNvPr id="20" name="developer label"/>
          <p:cNvSpPr txBox="1"/>
          <p:nvPr/>
        </p:nvSpPr>
        <p:spPr>
          <a:xfrm>
            <a:off x="457200" y="393192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Developer</a:t>
            </a:r>
            <a:endParaRPr lang="en-US" sz="1200" dirty="0"/>
          </a:p>
          <a:p>
            <a:pPr algn="ctr" indent="0" marL="0">
              <a:buNone/>
            </a:pPr>
            <a:r>
              <a:rPr lang="en-US" sz="1000" dirty="0">
                <a:solidFill>
                  <a:schemeClr val="bg2"/>
                </a:solidFill>
              </a:rPr>
              <a:t>git push</a:t>
            </a:r>
            <a:endParaRPr lang="en-US" sz="1200" dirty="0"/>
          </a:p>
        </p:txBody>
      </p:sp>
      <p:sp>
        <p:nvSpPr>
          <p:cNvPr id="21" name="actions box"/>
          <p:cNvSpPr/>
          <p:nvPr/>
        </p:nvSpPr>
        <p:spPr>
          <a:xfrm>
            <a:off x="2468880" y="3931920"/>
            <a:ext cx="1325880" cy="566928"/>
          </a:xfrm>
          <a:prstGeom prst="roundRect">
            <a:avLst>
              <a:gd name="adj" fmla="val 12903"/>
            </a:avLst>
          </a:prstGeom>
          <a:solidFill>
            <a:schemeClr val="tx2"/>
          </a:solidFill>
          <a:ln w="15875">
            <a:solidFill>
              <a:schemeClr val="accent2"/>
            </a:solidFill>
            <a:prstDash val="solid"/>
          </a:ln>
        </p:spPr>
      </p:sp>
      <p:sp>
        <p:nvSpPr>
          <p:cNvPr id="22" name="actions label"/>
          <p:cNvSpPr txBox="1"/>
          <p:nvPr/>
        </p:nvSpPr>
        <p:spPr>
          <a:xfrm>
            <a:off x="2468880" y="393192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GitHub Actions</a:t>
            </a:r>
            <a:endParaRPr lang="en-US" sz="1200" dirty="0"/>
          </a:p>
          <a:p>
            <a:pPr algn="ctr" indent="0" marL="0">
              <a:buNone/>
            </a:pPr>
            <a:r>
              <a:rPr lang="en-US" sz="1000" dirty="0">
                <a:solidFill>
                  <a:schemeClr val="bg2"/>
                </a:solidFill>
              </a:rPr>
              <a:t>test · build · Trivy</a:t>
            </a:r>
            <a:endParaRPr lang="en-US" sz="1200" dirty="0"/>
          </a:p>
        </p:txBody>
      </p:sp>
      <p:sp>
        <p:nvSpPr>
          <p:cNvPr id="23" name="git repo box"/>
          <p:cNvSpPr/>
          <p:nvPr/>
        </p:nvSpPr>
        <p:spPr>
          <a:xfrm>
            <a:off x="4069080" y="3931920"/>
            <a:ext cx="1325880" cy="566928"/>
          </a:xfrm>
          <a:prstGeom prst="roundRect">
            <a:avLst>
              <a:gd name="adj" fmla="val 12903"/>
            </a:avLst>
          </a:prstGeom>
          <a:solidFill>
            <a:schemeClr val="tx2"/>
          </a:solidFill>
          <a:ln w="15875">
            <a:solidFill>
              <a:schemeClr val="accent2"/>
            </a:solidFill>
            <a:prstDash val="solid"/>
          </a:ln>
        </p:spPr>
      </p:sp>
      <p:sp>
        <p:nvSpPr>
          <p:cNvPr id="24" name="git repo label"/>
          <p:cNvSpPr txBox="1"/>
          <p:nvPr/>
        </p:nvSpPr>
        <p:spPr>
          <a:xfrm>
            <a:off x="4069080" y="393192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Git repo</a:t>
            </a:r>
            <a:endParaRPr lang="en-US" sz="1200" dirty="0"/>
          </a:p>
          <a:p>
            <a:pPr algn="ctr" indent="0" marL="0">
              <a:buNone/>
            </a:pPr>
            <a:r>
              <a:rPr lang="en-US" sz="1000" dirty="0">
                <a:solidFill>
                  <a:schemeClr val="bg2"/>
                </a:solidFill>
              </a:rPr>
              <a:t>values-eks.yaml</a:t>
            </a:r>
            <a:endParaRPr lang="en-US" sz="1200" dirty="0"/>
          </a:p>
        </p:txBody>
      </p:sp>
      <p:sp>
        <p:nvSpPr>
          <p:cNvPr id="25" name="ghcr box"/>
          <p:cNvSpPr/>
          <p:nvPr/>
        </p:nvSpPr>
        <p:spPr>
          <a:xfrm>
            <a:off x="7269480" y="3931920"/>
            <a:ext cx="1325880" cy="566928"/>
          </a:xfrm>
          <a:prstGeom prst="roundRect">
            <a:avLst>
              <a:gd name="adj" fmla="val 12903"/>
            </a:avLst>
          </a:prstGeom>
          <a:solidFill>
            <a:schemeClr val="tx2"/>
          </a:solidFill>
          <a:ln w="15875">
            <a:solidFill>
              <a:schemeClr val="accent2"/>
            </a:solidFill>
            <a:prstDash val="solid"/>
          </a:ln>
        </p:spPr>
      </p:sp>
      <p:sp>
        <p:nvSpPr>
          <p:cNvPr id="26" name="ghcr label"/>
          <p:cNvSpPr txBox="1"/>
          <p:nvPr/>
        </p:nvSpPr>
        <p:spPr>
          <a:xfrm>
            <a:off x="7269480" y="3931920"/>
            <a:ext cx="1325880" cy="566928"/>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GHCR</a:t>
            </a:r>
            <a:endParaRPr lang="en-US" sz="1200" dirty="0"/>
          </a:p>
          <a:p>
            <a:pPr algn="ctr" indent="0" marL="0">
              <a:buNone/>
            </a:pPr>
            <a:r>
              <a:rPr lang="en-US" sz="1000" dirty="0">
                <a:solidFill>
                  <a:schemeClr val="bg2"/>
                </a:solidFill>
              </a:rPr>
              <a:t>images :commit-sha</a:t>
            </a:r>
            <a:endParaRPr lang="en-US" sz="1200" dirty="0"/>
          </a:p>
        </p:txBody>
      </p:sp>
      <p:sp>
        <p:nvSpPr>
          <p:cNvPr id="27" name="browser to alb"/>
          <p:cNvSpPr/>
          <p:nvPr/>
        </p:nvSpPr>
        <p:spPr>
          <a:xfrm>
            <a:off x="1783080" y="1792224"/>
            <a:ext cx="685800" cy="0"/>
          </a:xfrm>
          <a:prstGeom prst="line">
            <a:avLst/>
          </a:prstGeom>
          <a:noFill/>
          <a:ln w="19050">
            <a:solidFill>
              <a:schemeClr val="bg2"/>
            </a:solidFill>
            <a:prstDash val="solid"/>
            <a:tailEnd type="triangle"/>
          </a:ln>
        </p:spPr>
      </p:sp>
      <p:sp>
        <p:nvSpPr>
          <p:cNvPr id="28" name="alb to frontend"/>
          <p:cNvSpPr/>
          <p:nvPr/>
        </p:nvSpPr>
        <p:spPr>
          <a:xfrm>
            <a:off x="3794760" y="1792224"/>
            <a:ext cx="274320" cy="0"/>
          </a:xfrm>
          <a:prstGeom prst="line">
            <a:avLst/>
          </a:prstGeom>
          <a:noFill/>
          <a:ln w="19050">
            <a:solidFill>
              <a:schemeClr val="bg2"/>
            </a:solidFill>
            <a:prstDash val="solid"/>
            <a:tailEnd type="triangle"/>
          </a:ln>
        </p:spPr>
      </p:sp>
      <p:sp>
        <p:nvSpPr>
          <p:cNvPr id="29" name="frontend to backend"/>
          <p:cNvSpPr/>
          <p:nvPr/>
        </p:nvSpPr>
        <p:spPr>
          <a:xfrm>
            <a:off x="5394960" y="1792224"/>
            <a:ext cx="274320" cy="0"/>
          </a:xfrm>
          <a:prstGeom prst="line">
            <a:avLst/>
          </a:prstGeom>
          <a:noFill/>
          <a:ln w="19050">
            <a:solidFill>
              <a:schemeClr val="bg2"/>
            </a:solidFill>
            <a:prstDash val="solid"/>
            <a:tailEnd type="triangle"/>
          </a:ln>
        </p:spPr>
      </p:sp>
      <p:sp>
        <p:nvSpPr>
          <p:cNvPr id="30" name="backend to postgres"/>
          <p:cNvSpPr/>
          <p:nvPr/>
        </p:nvSpPr>
        <p:spPr>
          <a:xfrm>
            <a:off x="6995160" y="1792224"/>
            <a:ext cx="274320" cy="0"/>
          </a:xfrm>
          <a:prstGeom prst="line">
            <a:avLst/>
          </a:prstGeom>
          <a:noFill/>
          <a:ln w="19050">
            <a:solidFill>
              <a:schemeClr val="bg2"/>
            </a:solidFill>
            <a:prstDash val="solid"/>
            <a:tailEnd type="triangle"/>
          </a:ln>
        </p:spPr>
      </p:sp>
      <p:sp>
        <p:nvSpPr>
          <p:cNvPr id="31" name="prometheus scrapes backend"/>
          <p:cNvSpPr/>
          <p:nvPr/>
        </p:nvSpPr>
        <p:spPr>
          <a:xfrm flipV="1">
            <a:off x="6332220" y="2075688"/>
            <a:ext cx="0" cy="621792"/>
          </a:xfrm>
          <a:prstGeom prst="line">
            <a:avLst/>
          </a:prstGeom>
          <a:noFill/>
          <a:ln w="19050">
            <a:solidFill>
              <a:schemeClr val="accent4"/>
            </a:solidFill>
            <a:prstDash val="solid"/>
            <a:tailEnd type="triangle"/>
          </a:ln>
        </p:spPr>
      </p:sp>
      <p:sp>
        <p:nvSpPr>
          <p:cNvPr id="32" name="scrape label"/>
          <p:cNvSpPr txBox="1"/>
          <p:nvPr/>
        </p:nvSpPr>
        <p:spPr>
          <a:xfrm>
            <a:off x="6400800" y="2286000"/>
            <a:ext cx="1188720" cy="228600"/>
          </a:xfrm>
          <a:prstGeom prst="rect">
            <a:avLst/>
          </a:prstGeom>
          <a:noFill/>
          <a:ln/>
        </p:spPr>
        <p:txBody>
          <a:bodyPr wrap="square" lIns="0" tIns="0" rIns="0" bIns="0" rtlCol="0" anchor="ctr"/>
          <a:lstStyle/>
          <a:p>
            <a:pPr indent="0" marL="0">
              <a:buNone/>
            </a:pPr>
            <a:r>
              <a:rPr lang="en-US" sz="1000" dirty="0">
                <a:solidFill>
                  <a:schemeClr val="accent4"/>
                </a:solidFill>
              </a:rPr>
              <a:t>scrape /metrics</a:t>
            </a:r>
            <a:endParaRPr lang="en-US" sz="1000" dirty="0"/>
          </a:p>
        </p:txBody>
      </p:sp>
      <p:sp>
        <p:nvSpPr>
          <p:cNvPr id="33" name="argo deploys pods"/>
          <p:cNvSpPr/>
          <p:nvPr/>
        </p:nvSpPr>
        <p:spPr>
          <a:xfrm flipV="1">
            <a:off x="4732020" y="2075688"/>
            <a:ext cx="0" cy="621792"/>
          </a:xfrm>
          <a:prstGeom prst="line">
            <a:avLst/>
          </a:prstGeom>
          <a:noFill/>
          <a:ln w="19050">
            <a:solidFill>
              <a:schemeClr val="accent2"/>
            </a:solidFill>
            <a:prstDash val="solid"/>
            <a:tailEnd type="triangle"/>
          </a:ln>
        </p:spPr>
      </p:sp>
      <p:sp>
        <p:nvSpPr>
          <p:cNvPr id="34" name="deploy label"/>
          <p:cNvSpPr txBox="1"/>
          <p:nvPr/>
        </p:nvSpPr>
        <p:spPr>
          <a:xfrm>
            <a:off x="4800600" y="2240280"/>
            <a:ext cx="731520" cy="228600"/>
          </a:xfrm>
          <a:prstGeom prst="rect">
            <a:avLst/>
          </a:prstGeom>
          <a:noFill/>
          <a:ln/>
        </p:spPr>
        <p:txBody>
          <a:bodyPr wrap="square" lIns="0" tIns="0" rIns="0" bIns="0" rtlCol="0" anchor="ctr"/>
          <a:lstStyle/>
          <a:p>
            <a:pPr indent="0" marL="0">
              <a:buNone/>
            </a:pPr>
            <a:r>
              <a:rPr lang="en-US" sz="1000" dirty="0">
                <a:solidFill>
                  <a:schemeClr val="accent2"/>
                </a:solidFill>
              </a:rPr>
              <a:t>deploy</a:t>
            </a:r>
            <a:endParaRPr lang="en-US" sz="1000" dirty="0"/>
          </a:p>
        </p:txBody>
      </p:sp>
      <p:sp>
        <p:nvSpPr>
          <p:cNvPr id="35" name="developer to actions"/>
          <p:cNvSpPr/>
          <p:nvPr/>
        </p:nvSpPr>
        <p:spPr>
          <a:xfrm>
            <a:off x="1783080" y="4215384"/>
            <a:ext cx="685800" cy="0"/>
          </a:xfrm>
          <a:prstGeom prst="line">
            <a:avLst/>
          </a:prstGeom>
          <a:noFill/>
          <a:ln w="19050">
            <a:solidFill>
              <a:schemeClr val="bg2"/>
            </a:solidFill>
            <a:prstDash val="solid"/>
            <a:tailEnd type="triangle"/>
          </a:ln>
        </p:spPr>
      </p:sp>
      <p:sp>
        <p:nvSpPr>
          <p:cNvPr id="36" name="actions commits sha"/>
          <p:cNvSpPr/>
          <p:nvPr/>
        </p:nvSpPr>
        <p:spPr>
          <a:xfrm>
            <a:off x="3794760" y="4215384"/>
            <a:ext cx="274320" cy="0"/>
          </a:xfrm>
          <a:prstGeom prst="line">
            <a:avLst/>
          </a:prstGeom>
          <a:noFill/>
          <a:ln w="19050">
            <a:solidFill>
              <a:schemeClr val="accent2"/>
            </a:solidFill>
            <a:prstDash val="solid"/>
            <a:tailEnd type="triangle"/>
          </a:ln>
        </p:spPr>
      </p:sp>
      <p:sp>
        <p:nvSpPr>
          <p:cNvPr id="37" name="argo pulls git"/>
          <p:cNvSpPr/>
          <p:nvPr/>
        </p:nvSpPr>
        <p:spPr>
          <a:xfrm flipV="1">
            <a:off x="4732020" y="3264408"/>
            <a:ext cx="0" cy="667512"/>
          </a:xfrm>
          <a:prstGeom prst="line">
            <a:avLst/>
          </a:prstGeom>
          <a:noFill/>
          <a:ln w="19050">
            <a:solidFill>
              <a:schemeClr val="accent2"/>
            </a:solidFill>
            <a:prstDash val="solid"/>
            <a:tailEnd type="triangle"/>
          </a:ln>
        </p:spPr>
      </p:sp>
      <p:sp>
        <p:nvSpPr>
          <p:cNvPr id="38" name="pull label"/>
          <p:cNvSpPr txBox="1"/>
          <p:nvPr/>
        </p:nvSpPr>
        <p:spPr>
          <a:xfrm>
            <a:off x="4800600" y="3520440"/>
            <a:ext cx="548640" cy="228600"/>
          </a:xfrm>
          <a:prstGeom prst="rect">
            <a:avLst/>
          </a:prstGeom>
          <a:noFill/>
          <a:ln/>
        </p:spPr>
        <p:txBody>
          <a:bodyPr wrap="square" lIns="0" tIns="0" rIns="0" bIns="0" rtlCol="0" anchor="ctr"/>
          <a:lstStyle/>
          <a:p>
            <a:pPr indent="0" marL="0">
              <a:buNone/>
            </a:pPr>
            <a:r>
              <a:rPr lang="en-US" sz="1000" dirty="0">
                <a:solidFill>
                  <a:schemeClr val="accent2"/>
                </a:solidFill>
              </a:rPr>
              <a:t>pull</a:t>
            </a:r>
            <a:endParaRPr lang="en-US" sz="1000" dirty="0"/>
          </a:p>
        </p:txBody>
      </p:sp>
      <p:sp>
        <p:nvSpPr>
          <p:cNvPr id="39" name="actions down"/>
          <p:cNvSpPr/>
          <p:nvPr/>
        </p:nvSpPr>
        <p:spPr>
          <a:xfrm>
            <a:off x="3131820" y="4498848"/>
            <a:ext cx="0" cy="164592"/>
          </a:xfrm>
          <a:prstGeom prst="line">
            <a:avLst/>
          </a:prstGeom>
          <a:noFill/>
          <a:ln w="19050">
            <a:solidFill>
              <a:schemeClr val="accent2"/>
            </a:solidFill>
            <a:prstDash val="solid"/>
          </a:ln>
        </p:spPr>
      </p:sp>
      <p:sp>
        <p:nvSpPr>
          <p:cNvPr id="40" name="actions to ghcr bottom"/>
          <p:cNvSpPr/>
          <p:nvPr/>
        </p:nvSpPr>
        <p:spPr>
          <a:xfrm>
            <a:off x="3131820" y="4663440"/>
            <a:ext cx="4800600" cy="0"/>
          </a:xfrm>
          <a:prstGeom prst="line">
            <a:avLst/>
          </a:prstGeom>
          <a:noFill/>
          <a:ln w="19050">
            <a:solidFill>
              <a:schemeClr val="accent2"/>
            </a:solidFill>
            <a:prstDash val="solid"/>
          </a:ln>
        </p:spPr>
      </p:sp>
      <p:sp>
        <p:nvSpPr>
          <p:cNvPr id="41" name="into ghcr"/>
          <p:cNvSpPr/>
          <p:nvPr/>
        </p:nvSpPr>
        <p:spPr>
          <a:xfrm flipV="1">
            <a:off x="7932420" y="4498848"/>
            <a:ext cx="0" cy="164592"/>
          </a:xfrm>
          <a:prstGeom prst="line">
            <a:avLst/>
          </a:prstGeom>
          <a:noFill/>
          <a:ln w="19050">
            <a:solidFill>
              <a:schemeClr val="accent2"/>
            </a:solidFill>
            <a:prstDash val="solid"/>
            <a:tailEnd type="triangle"/>
          </a:ln>
        </p:spPr>
      </p:sp>
      <p:sp>
        <p:nvSpPr>
          <p:cNvPr id="42" name="push label"/>
          <p:cNvSpPr txBox="1"/>
          <p:nvPr/>
        </p:nvSpPr>
        <p:spPr>
          <a:xfrm>
            <a:off x="5623560" y="4425696"/>
            <a:ext cx="1280160" cy="201168"/>
          </a:xfrm>
          <a:prstGeom prst="rect">
            <a:avLst/>
          </a:prstGeom>
          <a:noFill/>
          <a:ln/>
        </p:spPr>
        <p:txBody>
          <a:bodyPr wrap="square" lIns="0" tIns="0" rIns="0" bIns="0" rtlCol="0" anchor="ctr"/>
          <a:lstStyle/>
          <a:p>
            <a:pPr indent="0" marL="0">
              <a:buNone/>
            </a:pPr>
            <a:r>
              <a:rPr lang="en-US" sz="1000" dirty="0">
                <a:solidFill>
                  <a:schemeClr val="accent2"/>
                </a:solidFill>
              </a:rPr>
              <a:t>push images</a:t>
            </a:r>
            <a:endParaRPr lang="en-US" sz="1000" dirty="0"/>
          </a:p>
        </p:txBody>
      </p:sp>
      <p:sp>
        <p:nvSpPr>
          <p:cNvPr id="43" name="nodes pull images"/>
          <p:cNvSpPr/>
          <p:nvPr/>
        </p:nvSpPr>
        <p:spPr>
          <a:xfrm flipV="1">
            <a:off x="7932420" y="2075688"/>
            <a:ext cx="0" cy="1856232"/>
          </a:xfrm>
          <a:prstGeom prst="line">
            <a:avLst/>
          </a:prstGeom>
          <a:noFill/>
          <a:ln w="19050">
            <a:solidFill>
              <a:schemeClr val="accent6"/>
            </a:solidFill>
            <a:prstDash val="dash"/>
            <a:tailEnd type="triangle"/>
          </a:ln>
        </p:spPr>
      </p:sp>
      <p:sp>
        <p:nvSpPr>
          <p:cNvPr id="44" name="image pull label"/>
          <p:cNvSpPr txBox="1"/>
          <p:nvPr/>
        </p:nvSpPr>
        <p:spPr>
          <a:xfrm>
            <a:off x="8001000" y="3017520"/>
            <a:ext cx="548640" cy="228600"/>
          </a:xfrm>
          <a:prstGeom prst="rect">
            <a:avLst/>
          </a:prstGeom>
          <a:noFill/>
          <a:ln/>
        </p:spPr>
        <p:txBody>
          <a:bodyPr wrap="square" lIns="0" tIns="0" rIns="0" bIns="0" rtlCol="0" anchor="ctr"/>
          <a:lstStyle/>
          <a:p>
            <a:pPr indent="0" marL="0">
              <a:buNone/>
            </a:pPr>
            <a:r>
              <a:rPr lang="en-US" sz="1000" dirty="0">
                <a:solidFill>
                  <a:schemeClr val="accent6"/>
                </a:solidFill>
              </a:rPr>
              <a:t>pull</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CI/CD: from git push to production</a:t>
            </a:r>
            <a:endParaRPr lang="en-US" sz="3000" dirty="0"/>
          </a:p>
        </p:txBody>
      </p:sp>
      <p:sp>
        <p:nvSpPr>
          <p:cNvPr id="3" name="Push circle"/>
          <p:cNvSpPr/>
          <p:nvPr/>
        </p:nvSpPr>
        <p:spPr>
          <a:xfrm>
            <a:off x="777240" y="1234440"/>
            <a:ext cx="548640" cy="548640"/>
          </a:xfrm>
          <a:prstGeom prst="ellipse">
            <a:avLst/>
          </a:prstGeom>
          <a:solidFill>
            <a:schemeClr val="accent1"/>
          </a:solidFill>
          <a:ln w="12700">
            <a:solidFill>
              <a:schemeClr val="accent1"/>
            </a:solidFill>
            <a:prstDash val="solid"/>
          </a:ln>
        </p:spPr>
      </p:sp>
      <p:pic>
        <p:nvPicPr>
          <p:cNvPr id="4" name="Push icon" descr="Push">    </p:cNvPr>
          <p:cNvPicPr>
            <a:picLocks noChangeAspect="1"/>
          </p:cNvPicPr>
          <p:nvPr/>
        </p:nvPicPr>
        <p:blipFill>
          <a:blip r:embed="rId1"/>
          <a:stretch>
            <a:fillRect/>
          </a:stretch>
        </p:blipFill>
        <p:spPr>
          <a:xfrm>
            <a:off x="914400" y="1371600"/>
            <a:ext cx="274320" cy="274320"/>
          </a:xfrm>
          <a:prstGeom prst="rect">
            <a:avLst/>
          </a:prstGeom>
        </p:spPr>
      </p:pic>
      <p:sp>
        <p:nvSpPr>
          <p:cNvPr id="5" name="step 1 arrow"/>
          <p:cNvSpPr/>
          <p:nvPr/>
        </p:nvSpPr>
        <p:spPr>
          <a:xfrm>
            <a:off x="1371600" y="1508760"/>
            <a:ext cx="548640" cy="0"/>
          </a:xfrm>
          <a:prstGeom prst="line">
            <a:avLst/>
          </a:prstGeom>
          <a:noFill/>
          <a:ln w="19050">
            <a:solidFill>
              <a:schemeClr val="accent6"/>
            </a:solidFill>
            <a:prstDash val="solid"/>
            <a:tailEnd type="triangle"/>
          </a:ln>
        </p:spPr>
      </p:sp>
      <p:sp>
        <p:nvSpPr>
          <p:cNvPr id="6" name="step Push title"/>
          <p:cNvSpPr txBox="1"/>
          <p:nvPr/>
        </p:nvSpPr>
        <p:spPr>
          <a:xfrm>
            <a:off x="475488" y="1920240"/>
            <a:ext cx="1152144" cy="274320"/>
          </a:xfrm>
          <a:prstGeom prst="rect">
            <a:avLst/>
          </a:prstGeom>
          <a:noFill/>
          <a:ln/>
        </p:spPr>
        <p:txBody>
          <a:bodyPr wrap="square" lIns="0" tIns="0" rIns="0" bIns="0" rtlCol="0" anchor="ctr"/>
          <a:lstStyle/>
          <a:p>
            <a:pPr algn="ctr" indent="0" marL="0">
              <a:buNone/>
            </a:pPr>
            <a:r>
              <a:rPr lang="en-US" sz="1300" b="1" dirty="0">
                <a:solidFill>
                  <a:schemeClr val="bg1"/>
                </a:solidFill>
              </a:rPr>
              <a:t>1. Push</a:t>
            </a:r>
            <a:endParaRPr lang="en-US" sz="1300" dirty="0"/>
          </a:p>
        </p:txBody>
      </p:sp>
      <p:sp>
        <p:nvSpPr>
          <p:cNvPr id="7" name="step Push desc"/>
          <p:cNvSpPr txBox="1"/>
          <p:nvPr/>
        </p:nvSpPr>
        <p:spPr>
          <a:xfrm>
            <a:off x="475488" y="2212848"/>
            <a:ext cx="1152144" cy="548640"/>
          </a:xfrm>
          <a:prstGeom prst="rect">
            <a:avLst/>
          </a:prstGeom>
          <a:noFill/>
          <a:ln/>
        </p:spPr>
        <p:txBody>
          <a:bodyPr wrap="square" lIns="0" tIns="0" rIns="0" bIns="0" rtlCol="0" anchor="ctr"/>
          <a:lstStyle/>
          <a:p>
            <a:pPr algn="ctr" indent="0" marL="0">
              <a:buNone/>
            </a:pPr>
            <a:r>
              <a:rPr lang="en-US" sz="1100" dirty="0">
                <a:solidFill>
                  <a:schemeClr val="bg2"/>
                </a:solidFill>
              </a:rPr>
              <a:t>git push to main</a:t>
            </a:r>
            <a:endParaRPr lang="en-US" sz="1100" dirty="0"/>
          </a:p>
        </p:txBody>
      </p:sp>
      <p:sp>
        <p:nvSpPr>
          <p:cNvPr id="8" name="Test circle"/>
          <p:cNvSpPr/>
          <p:nvPr/>
        </p:nvSpPr>
        <p:spPr>
          <a:xfrm>
            <a:off x="1965960" y="1234440"/>
            <a:ext cx="548640" cy="548640"/>
          </a:xfrm>
          <a:prstGeom prst="ellipse">
            <a:avLst/>
          </a:prstGeom>
          <a:solidFill>
            <a:schemeClr val="accent1"/>
          </a:solidFill>
          <a:ln w="12700">
            <a:solidFill>
              <a:schemeClr val="accent1"/>
            </a:solidFill>
            <a:prstDash val="solid"/>
          </a:ln>
        </p:spPr>
      </p:sp>
      <p:pic>
        <p:nvPicPr>
          <p:cNvPr id="9" name="Test icon" descr="Test">    </p:cNvPr>
          <p:cNvPicPr>
            <a:picLocks noChangeAspect="1"/>
          </p:cNvPicPr>
          <p:nvPr/>
        </p:nvPicPr>
        <p:blipFill>
          <a:blip r:embed="rId2"/>
          <a:stretch>
            <a:fillRect/>
          </a:stretch>
        </p:blipFill>
        <p:spPr>
          <a:xfrm>
            <a:off x="2103120" y="1371600"/>
            <a:ext cx="274320" cy="274320"/>
          </a:xfrm>
          <a:prstGeom prst="rect">
            <a:avLst/>
          </a:prstGeom>
        </p:spPr>
      </p:pic>
      <p:sp>
        <p:nvSpPr>
          <p:cNvPr id="10" name="step 2 arrow"/>
          <p:cNvSpPr/>
          <p:nvPr/>
        </p:nvSpPr>
        <p:spPr>
          <a:xfrm>
            <a:off x="2560320" y="1508760"/>
            <a:ext cx="548640" cy="0"/>
          </a:xfrm>
          <a:prstGeom prst="line">
            <a:avLst/>
          </a:prstGeom>
          <a:noFill/>
          <a:ln w="19050">
            <a:solidFill>
              <a:schemeClr val="accent6"/>
            </a:solidFill>
            <a:prstDash val="solid"/>
            <a:tailEnd type="triangle"/>
          </a:ln>
        </p:spPr>
      </p:sp>
      <p:sp>
        <p:nvSpPr>
          <p:cNvPr id="11" name="step Test title"/>
          <p:cNvSpPr txBox="1"/>
          <p:nvPr/>
        </p:nvSpPr>
        <p:spPr>
          <a:xfrm>
            <a:off x="1664208" y="1920240"/>
            <a:ext cx="1152144" cy="274320"/>
          </a:xfrm>
          <a:prstGeom prst="rect">
            <a:avLst/>
          </a:prstGeom>
          <a:noFill/>
          <a:ln/>
        </p:spPr>
        <p:txBody>
          <a:bodyPr wrap="square" lIns="0" tIns="0" rIns="0" bIns="0" rtlCol="0" anchor="ctr"/>
          <a:lstStyle/>
          <a:p>
            <a:pPr algn="ctr" indent="0" marL="0">
              <a:buNone/>
            </a:pPr>
            <a:r>
              <a:rPr lang="en-US" sz="1300" b="1" dirty="0">
                <a:solidFill>
                  <a:schemeClr val="bg1"/>
                </a:solidFill>
              </a:rPr>
              <a:t>2. Test</a:t>
            </a:r>
            <a:endParaRPr lang="en-US" sz="1300" dirty="0"/>
          </a:p>
        </p:txBody>
      </p:sp>
      <p:sp>
        <p:nvSpPr>
          <p:cNvPr id="12" name="step Test desc"/>
          <p:cNvSpPr txBox="1"/>
          <p:nvPr/>
        </p:nvSpPr>
        <p:spPr>
          <a:xfrm>
            <a:off x="1664208" y="2212848"/>
            <a:ext cx="1152144" cy="548640"/>
          </a:xfrm>
          <a:prstGeom prst="rect">
            <a:avLst/>
          </a:prstGeom>
          <a:noFill/>
          <a:ln/>
        </p:spPr>
        <p:txBody>
          <a:bodyPr wrap="square" lIns="0" tIns="0" rIns="0" bIns="0" rtlCol="0" anchor="ctr"/>
          <a:lstStyle/>
          <a:p>
            <a:pPr algn="ctr" indent="0" marL="0">
              <a:buNone/>
            </a:pPr>
            <a:r>
              <a:rPr lang="en-US" sz="1100" dirty="0">
                <a:solidFill>
                  <a:schemeClr val="bg2"/>
                </a:solidFill>
              </a:rPr>
              <a:t>pytest (14) + frontend build</a:t>
            </a:r>
            <a:endParaRPr lang="en-US" sz="1100" dirty="0"/>
          </a:p>
        </p:txBody>
      </p:sp>
      <p:sp>
        <p:nvSpPr>
          <p:cNvPr id="13" name="Build circle"/>
          <p:cNvSpPr/>
          <p:nvPr/>
        </p:nvSpPr>
        <p:spPr>
          <a:xfrm>
            <a:off x="3154680" y="1234440"/>
            <a:ext cx="548640" cy="548640"/>
          </a:xfrm>
          <a:prstGeom prst="ellipse">
            <a:avLst/>
          </a:prstGeom>
          <a:solidFill>
            <a:schemeClr val="accent1"/>
          </a:solidFill>
          <a:ln w="12700">
            <a:solidFill>
              <a:schemeClr val="accent1"/>
            </a:solidFill>
            <a:prstDash val="solid"/>
          </a:ln>
        </p:spPr>
      </p:sp>
      <p:pic>
        <p:nvPicPr>
          <p:cNvPr id="14" name="Build icon" descr="Build">    </p:cNvPr>
          <p:cNvPicPr>
            <a:picLocks noChangeAspect="1"/>
          </p:cNvPicPr>
          <p:nvPr/>
        </p:nvPicPr>
        <p:blipFill>
          <a:blip r:embed="rId3"/>
          <a:stretch>
            <a:fillRect/>
          </a:stretch>
        </p:blipFill>
        <p:spPr>
          <a:xfrm>
            <a:off x="3291840" y="1371600"/>
            <a:ext cx="274320" cy="274320"/>
          </a:xfrm>
          <a:prstGeom prst="rect">
            <a:avLst/>
          </a:prstGeom>
        </p:spPr>
      </p:pic>
      <p:sp>
        <p:nvSpPr>
          <p:cNvPr id="15" name="step 3 arrow"/>
          <p:cNvSpPr/>
          <p:nvPr/>
        </p:nvSpPr>
        <p:spPr>
          <a:xfrm>
            <a:off x="3749040" y="1508760"/>
            <a:ext cx="548640" cy="0"/>
          </a:xfrm>
          <a:prstGeom prst="line">
            <a:avLst/>
          </a:prstGeom>
          <a:noFill/>
          <a:ln w="19050">
            <a:solidFill>
              <a:schemeClr val="accent6"/>
            </a:solidFill>
            <a:prstDash val="solid"/>
            <a:tailEnd type="triangle"/>
          </a:ln>
        </p:spPr>
      </p:sp>
      <p:sp>
        <p:nvSpPr>
          <p:cNvPr id="16" name="step Build title"/>
          <p:cNvSpPr txBox="1"/>
          <p:nvPr/>
        </p:nvSpPr>
        <p:spPr>
          <a:xfrm>
            <a:off x="2852928" y="1920240"/>
            <a:ext cx="1152144" cy="274320"/>
          </a:xfrm>
          <a:prstGeom prst="rect">
            <a:avLst/>
          </a:prstGeom>
          <a:noFill/>
          <a:ln/>
        </p:spPr>
        <p:txBody>
          <a:bodyPr wrap="square" lIns="0" tIns="0" rIns="0" bIns="0" rtlCol="0" anchor="ctr"/>
          <a:lstStyle/>
          <a:p>
            <a:pPr algn="ctr" indent="0" marL="0">
              <a:buNone/>
            </a:pPr>
            <a:r>
              <a:rPr lang="en-US" sz="1300" b="1" dirty="0">
                <a:solidFill>
                  <a:schemeClr val="bg1"/>
                </a:solidFill>
              </a:rPr>
              <a:t>3. Build</a:t>
            </a:r>
            <a:endParaRPr lang="en-US" sz="1300" dirty="0"/>
          </a:p>
        </p:txBody>
      </p:sp>
      <p:sp>
        <p:nvSpPr>
          <p:cNvPr id="17" name="step Build desc"/>
          <p:cNvSpPr txBox="1"/>
          <p:nvPr/>
        </p:nvSpPr>
        <p:spPr>
          <a:xfrm>
            <a:off x="2852928" y="2212848"/>
            <a:ext cx="1152144" cy="548640"/>
          </a:xfrm>
          <a:prstGeom prst="rect">
            <a:avLst/>
          </a:prstGeom>
          <a:noFill/>
          <a:ln/>
        </p:spPr>
        <p:txBody>
          <a:bodyPr wrap="square" lIns="0" tIns="0" rIns="0" bIns="0" rtlCol="0" anchor="ctr"/>
          <a:lstStyle/>
          <a:p>
            <a:pPr algn="ctr" indent="0" marL="0">
              <a:buNone/>
            </a:pPr>
            <a:r>
              <a:rPr lang="en-US" sz="1100" dirty="0">
                <a:solidFill>
                  <a:schemeClr val="bg2"/>
                </a:solidFill>
              </a:rPr>
              <a:t>backend + frontend images</a:t>
            </a:r>
            <a:endParaRPr lang="en-US" sz="1100" dirty="0"/>
          </a:p>
        </p:txBody>
      </p:sp>
      <p:sp>
        <p:nvSpPr>
          <p:cNvPr id="18" name="Trivy gate circle"/>
          <p:cNvSpPr/>
          <p:nvPr/>
        </p:nvSpPr>
        <p:spPr>
          <a:xfrm>
            <a:off x="4343400" y="1234440"/>
            <a:ext cx="548640" cy="548640"/>
          </a:xfrm>
          <a:prstGeom prst="ellipse">
            <a:avLst/>
          </a:prstGeom>
          <a:solidFill>
            <a:schemeClr val="accent3"/>
          </a:solidFill>
          <a:ln w="12700">
            <a:solidFill>
              <a:schemeClr val="accent3"/>
            </a:solidFill>
            <a:prstDash val="solid"/>
          </a:ln>
        </p:spPr>
      </p:sp>
      <p:pic>
        <p:nvPicPr>
          <p:cNvPr id="19" name="Trivy gate icon" descr="Trivy gate">    </p:cNvPr>
          <p:cNvPicPr>
            <a:picLocks noChangeAspect="1"/>
          </p:cNvPicPr>
          <p:nvPr/>
        </p:nvPicPr>
        <p:blipFill>
          <a:blip r:embed="rId4"/>
          <a:stretch>
            <a:fillRect/>
          </a:stretch>
        </p:blipFill>
        <p:spPr>
          <a:xfrm>
            <a:off x="4480560" y="1371600"/>
            <a:ext cx="274320" cy="274320"/>
          </a:xfrm>
          <a:prstGeom prst="rect">
            <a:avLst/>
          </a:prstGeom>
        </p:spPr>
      </p:pic>
      <p:sp>
        <p:nvSpPr>
          <p:cNvPr id="20" name="step 4 arrow"/>
          <p:cNvSpPr/>
          <p:nvPr/>
        </p:nvSpPr>
        <p:spPr>
          <a:xfrm>
            <a:off x="4937760" y="1508760"/>
            <a:ext cx="548640" cy="0"/>
          </a:xfrm>
          <a:prstGeom prst="line">
            <a:avLst/>
          </a:prstGeom>
          <a:noFill/>
          <a:ln w="19050">
            <a:solidFill>
              <a:schemeClr val="accent6"/>
            </a:solidFill>
            <a:prstDash val="solid"/>
            <a:tailEnd type="triangle"/>
          </a:ln>
        </p:spPr>
      </p:sp>
      <p:sp>
        <p:nvSpPr>
          <p:cNvPr id="21" name="step Trivy gate title"/>
          <p:cNvSpPr txBox="1"/>
          <p:nvPr/>
        </p:nvSpPr>
        <p:spPr>
          <a:xfrm>
            <a:off x="4041648" y="1920240"/>
            <a:ext cx="1152144" cy="274320"/>
          </a:xfrm>
          <a:prstGeom prst="rect">
            <a:avLst/>
          </a:prstGeom>
          <a:noFill/>
          <a:ln/>
        </p:spPr>
        <p:txBody>
          <a:bodyPr wrap="square" lIns="0" tIns="0" rIns="0" bIns="0" rtlCol="0" anchor="ctr"/>
          <a:lstStyle/>
          <a:p>
            <a:pPr algn="ctr" indent="0" marL="0">
              <a:buNone/>
            </a:pPr>
            <a:r>
              <a:rPr lang="en-US" sz="1300" b="1" dirty="0">
                <a:solidFill>
                  <a:schemeClr val="bg1"/>
                </a:solidFill>
              </a:rPr>
              <a:t>4. Trivy gate</a:t>
            </a:r>
            <a:endParaRPr lang="en-US" sz="1300" dirty="0"/>
          </a:p>
        </p:txBody>
      </p:sp>
      <p:sp>
        <p:nvSpPr>
          <p:cNvPr id="22" name="step Trivy gate desc"/>
          <p:cNvSpPr txBox="1"/>
          <p:nvPr/>
        </p:nvSpPr>
        <p:spPr>
          <a:xfrm>
            <a:off x="4041648" y="2212848"/>
            <a:ext cx="1152144" cy="548640"/>
          </a:xfrm>
          <a:prstGeom prst="rect">
            <a:avLst/>
          </a:prstGeom>
          <a:noFill/>
          <a:ln/>
        </p:spPr>
        <p:txBody>
          <a:bodyPr wrap="square" lIns="0" tIns="0" rIns="0" bIns="0" rtlCol="0" anchor="ctr"/>
          <a:lstStyle/>
          <a:p>
            <a:pPr algn="ctr" indent="0" marL="0">
              <a:buNone/>
            </a:pPr>
            <a:r>
              <a:rPr lang="en-US" sz="1100" dirty="0">
                <a:solidFill>
                  <a:schemeClr val="bg2"/>
                </a:solidFill>
              </a:rPr>
              <a:t>fail on fixable HIGH/CRITICAL</a:t>
            </a:r>
            <a:endParaRPr lang="en-US" sz="1100" dirty="0"/>
          </a:p>
        </p:txBody>
      </p:sp>
      <p:sp>
        <p:nvSpPr>
          <p:cNvPr id="23" name="Publish circle"/>
          <p:cNvSpPr/>
          <p:nvPr/>
        </p:nvSpPr>
        <p:spPr>
          <a:xfrm>
            <a:off x="5532120" y="1234440"/>
            <a:ext cx="548640" cy="548640"/>
          </a:xfrm>
          <a:prstGeom prst="ellipse">
            <a:avLst/>
          </a:prstGeom>
          <a:solidFill>
            <a:schemeClr val="accent1"/>
          </a:solidFill>
          <a:ln w="12700">
            <a:solidFill>
              <a:schemeClr val="accent1"/>
            </a:solidFill>
            <a:prstDash val="solid"/>
          </a:ln>
        </p:spPr>
      </p:sp>
      <p:pic>
        <p:nvPicPr>
          <p:cNvPr id="24" name="Publish icon" descr="Publish">    </p:cNvPr>
          <p:cNvPicPr>
            <a:picLocks noChangeAspect="1"/>
          </p:cNvPicPr>
          <p:nvPr/>
        </p:nvPicPr>
        <p:blipFill>
          <a:blip r:embed="rId5"/>
          <a:stretch>
            <a:fillRect/>
          </a:stretch>
        </p:blipFill>
        <p:spPr>
          <a:xfrm>
            <a:off x="5669280" y="1371600"/>
            <a:ext cx="274320" cy="274320"/>
          </a:xfrm>
          <a:prstGeom prst="rect">
            <a:avLst/>
          </a:prstGeom>
        </p:spPr>
      </p:pic>
      <p:sp>
        <p:nvSpPr>
          <p:cNvPr id="25" name="step 5 arrow"/>
          <p:cNvSpPr/>
          <p:nvPr/>
        </p:nvSpPr>
        <p:spPr>
          <a:xfrm>
            <a:off x="6126480" y="1508760"/>
            <a:ext cx="548640" cy="0"/>
          </a:xfrm>
          <a:prstGeom prst="line">
            <a:avLst/>
          </a:prstGeom>
          <a:noFill/>
          <a:ln w="19050">
            <a:solidFill>
              <a:schemeClr val="accent6"/>
            </a:solidFill>
            <a:prstDash val="solid"/>
            <a:tailEnd type="triangle"/>
          </a:ln>
        </p:spPr>
      </p:sp>
      <p:sp>
        <p:nvSpPr>
          <p:cNvPr id="26" name="step Publish title"/>
          <p:cNvSpPr txBox="1"/>
          <p:nvPr/>
        </p:nvSpPr>
        <p:spPr>
          <a:xfrm>
            <a:off x="5230368" y="1920240"/>
            <a:ext cx="1152144" cy="274320"/>
          </a:xfrm>
          <a:prstGeom prst="rect">
            <a:avLst/>
          </a:prstGeom>
          <a:noFill/>
          <a:ln/>
        </p:spPr>
        <p:txBody>
          <a:bodyPr wrap="square" lIns="0" tIns="0" rIns="0" bIns="0" rtlCol="0" anchor="ctr"/>
          <a:lstStyle/>
          <a:p>
            <a:pPr algn="ctr" indent="0" marL="0">
              <a:buNone/>
            </a:pPr>
            <a:r>
              <a:rPr lang="en-US" sz="1300" b="1" dirty="0">
                <a:solidFill>
                  <a:schemeClr val="bg1"/>
                </a:solidFill>
              </a:rPr>
              <a:t>5. Publish</a:t>
            </a:r>
            <a:endParaRPr lang="en-US" sz="1300" dirty="0"/>
          </a:p>
        </p:txBody>
      </p:sp>
      <p:sp>
        <p:nvSpPr>
          <p:cNvPr id="27" name="step Publish desc"/>
          <p:cNvSpPr txBox="1"/>
          <p:nvPr/>
        </p:nvSpPr>
        <p:spPr>
          <a:xfrm>
            <a:off x="5230368" y="2212848"/>
            <a:ext cx="1152144" cy="548640"/>
          </a:xfrm>
          <a:prstGeom prst="rect">
            <a:avLst/>
          </a:prstGeom>
          <a:noFill/>
          <a:ln/>
        </p:spPr>
        <p:txBody>
          <a:bodyPr wrap="square" lIns="0" tIns="0" rIns="0" bIns="0" rtlCol="0" anchor="ctr"/>
          <a:lstStyle/>
          <a:p>
            <a:pPr algn="ctr" indent="0" marL="0">
              <a:buNone/>
            </a:pPr>
            <a:r>
              <a:rPr lang="en-US" sz="1100" dirty="0">
                <a:solidFill>
                  <a:schemeClr val="bg2"/>
                </a:solidFill>
              </a:rPr>
              <a:t>GHCR, tagged :commit-sha</a:t>
            </a:r>
            <a:endParaRPr lang="en-US" sz="1100" dirty="0"/>
          </a:p>
        </p:txBody>
      </p:sp>
      <p:sp>
        <p:nvSpPr>
          <p:cNvPr id="28" name="GitOps circle"/>
          <p:cNvSpPr/>
          <p:nvPr/>
        </p:nvSpPr>
        <p:spPr>
          <a:xfrm>
            <a:off x="6720840" y="1234440"/>
            <a:ext cx="548640" cy="548640"/>
          </a:xfrm>
          <a:prstGeom prst="ellipse">
            <a:avLst/>
          </a:prstGeom>
          <a:solidFill>
            <a:schemeClr val="accent2"/>
          </a:solidFill>
          <a:ln w="12700">
            <a:solidFill>
              <a:schemeClr val="accent2"/>
            </a:solidFill>
            <a:prstDash val="solid"/>
          </a:ln>
        </p:spPr>
      </p:sp>
      <p:pic>
        <p:nvPicPr>
          <p:cNvPr id="29" name="GitOps icon" descr="GitOps">    </p:cNvPr>
          <p:cNvPicPr>
            <a:picLocks noChangeAspect="1"/>
          </p:cNvPicPr>
          <p:nvPr/>
        </p:nvPicPr>
        <p:blipFill>
          <a:blip r:embed="rId6"/>
          <a:stretch>
            <a:fillRect/>
          </a:stretch>
        </p:blipFill>
        <p:spPr>
          <a:xfrm>
            <a:off x="6858000" y="1371600"/>
            <a:ext cx="274320" cy="274320"/>
          </a:xfrm>
          <a:prstGeom prst="rect">
            <a:avLst/>
          </a:prstGeom>
        </p:spPr>
      </p:pic>
      <p:sp>
        <p:nvSpPr>
          <p:cNvPr id="30" name="step 6 arrow"/>
          <p:cNvSpPr/>
          <p:nvPr/>
        </p:nvSpPr>
        <p:spPr>
          <a:xfrm>
            <a:off x="7315200" y="1508760"/>
            <a:ext cx="548640" cy="0"/>
          </a:xfrm>
          <a:prstGeom prst="line">
            <a:avLst/>
          </a:prstGeom>
          <a:noFill/>
          <a:ln w="19050">
            <a:solidFill>
              <a:schemeClr val="accent6"/>
            </a:solidFill>
            <a:prstDash val="solid"/>
            <a:tailEnd type="triangle"/>
          </a:ln>
        </p:spPr>
      </p:sp>
      <p:sp>
        <p:nvSpPr>
          <p:cNvPr id="31" name="step GitOps title"/>
          <p:cNvSpPr txBox="1"/>
          <p:nvPr/>
        </p:nvSpPr>
        <p:spPr>
          <a:xfrm>
            <a:off x="6419088" y="1920240"/>
            <a:ext cx="1152144" cy="274320"/>
          </a:xfrm>
          <a:prstGeom prst="rect">
            <a:avLst/>
          </a:prstGeom>
          <a:noFill/>
          <a:ln/>
        </p:spPr>
        <p:txBody>
          <a:bodyPr wrap="square" lIns="0" tIns="0" rIns="0" bIns="0" rtlCol="0" anchor="ctr"/>
          <a:lstStyle/>
          <a:p>
            <a:pPr algn="ctr" indent="0" marL="0">
              <a:buNone/>
            </a:pPr>
            <a:r>
              <a:rPr lang="en-US" sz="1300" b="1" dirty="0">
                <a:solidFill>
                  <a:schemeClr val="bg1"/>
                </a:solidFill>
              </a:rPr>
              <a:t>6. GitOps</a:t>
            </a:r>
            <a:endParaRPr lang="en-US" sz="1300" dirty="0"/>
          </a:p>
        </p:txBody>
      </p:sp>
      <p:sp>
        <p:nvSpPr>
          <p:cNvPr id="32" name="step GitOps desc"/>
          <p:cNvSpPr txBox="1"/>
          <p:nvPr/>
        </p:nvSpPr>
        <p:spPr>
          <a:xfrm>
            <a:off x="6419088" y="2212848"/>
            <a:ext cx="1152144" cy="548640"/>
          </a:xfrm>
          <a:prstGeom prst="rect">
            <a:avLst/>
          </a:prstGeom>
          <a:noFill/>
          <a:ln/>
        </p:spPr>
        <p:txBody>
          <a:bodyPr wrap="square" lIns="0" tIns="0" rIns="0" bIns="0" rtlCol="0" anchor="ctr"/>
          <a:lstStyle/>
          <a:p>
            <a:pPr algn="ctr" indent="0" marL="0">
              <a:buNone/>
            </a:pPr>
            <a:r>
              <a:rPr lang="en-US" sz="1100" dirty="0">
                <a:solidFill>
                  <a:schemeClr val="bg2"/>
                </a:solidFill>
              </a:rPr>
              <a:t>commit the SHA to Git</a:t>
            </a:r>
            <a:endParaRPr lang="en-US" sz="1100" dirty="0"/>
          </a:p>
        </p:txBody>
      </p:sp>
      <p:sp>
        <p:nvSpPr>
          <p:cNvPr id="33" name="Argo CD circle"/>
          <p:cNvSpPr/>
          <p:nvPr/>
        </p:nvSpPr>
        <p:spPr>
          <a:xfrm>
            <a:off x="7909560" y="1234440"/>
            <a:ext cx="548640" cy="548640"/>
          </a:xfrm>
          <a:prstGeom prst="ellipse">
            <a:avLst/>
          </a:prstGeom>
          <a:solidFill>
            <a:schemeClr val="accent2"/>
          </a:solidFill>
          <a:ln w="12700">
            <a:solidFill>
              <a:schemeClr val="accent2"/>
            </a:solidFill>
            <a:prstDash val="solid"/>
          </a:ln>
        </p:spPr>
      </p:sp>
      <p:pic>
        <p:nvPicPr>
          <p:cNvPr id="34" name="Argo CD icon" descr="Argo CD">    </p:cNvPr>
          <p:cNvPicPr>
            <a:picLocks noChangeAspect="1"/>
          </p:cNvPicPr>
          <p:nvPr/>
        </p:nvPicPr>
        <p:blipFill>
          <a:blip r:embed="rId7"/>
          <a:stretch>
            <a:fillRect/>
          </a:stretch>
        </p:blipFill>
        <p:spPr>
          <a:xfrm>
            <a:off x="8046720" y="1371600"/>
            <a:ext cx="274320" cy="274320"/>
          </a:xfrm>
          <a:prstGeom prst="rect">
            <a:avLst/>
          </a:prstGeom>
        </p:spPr>
      </p:pic>
      <p:sp>
        <p:nvSpPr>
          <p:cNvPr id="35" name="step Argo CD title"/>
          <p:cNvSpPr txBox="1"/>
          <p:nvPr/>
        </p:nvSpPr>
        <p:spPr>
          <a:xfrm>
            <a:off x="7607808" y="1920240"/>
            <a:ext cx="1152144" cy="274320"/>
          </a:xfrm>
          <a:prstGeom prst="rect">
            <a:avLst/>
          </a:prstGeom>
          <a:noFill/>
          <a:ln/>
        </p:spPr>
        <p:txBody>
          <a:bodyPr wrap="square" lIns="0" tIns="0" rIns="0" bIns="0" rtlCol="0" anchor="ctr"/>
          <a:lstStyle/>
          <a:p>
            <a:pPr algn="ctr" indent="0" marL="0">
              <a:buNone/>
            </a:pPr>
            <a:r>
              <a:rPr lang="en-US" sz="1300" b="1" dirty="0">
                <a:solidFill>
                  <a:schemeClr val="bg1"/>
                </a:solidFill>
              </a:rPr>
              <a:t>7. Argo CD</a:t>
            </a:r>
            <a:endParaRPr lang="en-US" sz="1300" dirty="0"/>
          </a:p>
        </p:txBody>
      </p:sp>
      <p:sp>
        <p:nvSpPr>
          <p:cNvPr id="36" name="step Argo CD desc"/>
          <p:cNvSpPr txBox="1"/>
          <p:nvPr/>
        </p:nvSpPr>
        <p:spPr>
          <a:xfrm>
            <a:off x="7607808" y="2212848"/>
            <a:ext cx="1152144" cy="548640"/>
          </a:xfrm>
          <a:prstGeom prst="rect">
            <a:avLst/>
          </a:prstGeom>
          <a:noFill/>
          <a:ln/>
        </p:spPr>
        <p:txBody>
          <a:bodyPr wrap="square" lIns="0" tIns="0" rIns="0" bIns="0" rtlCol="0" anchor="ctr"/>
          <a:lstStyle/>
          <a:p>
            <a:pPr algn="ctr" indent="0" marL="0">
              <a:buNone/>
            </a:pPr>
            <a:r>
              <a:rPr lang="en-US" sz="1100" dirty="0">
                <a:solidFill>
                  <a:schemeClr val="bg2"/>
                </a:solidFill>
              </a:rPr>
              <a:t>sync + rolling update</a:t>
            </a:r>
            <a:endParaRPr lang="en-US" sz="1100" dirty="0"/>
          </a:p>
        </p:txBody>
      </p:sp>
      <p:sp>
        <p:nvSpPr>
          <p:cNvPr id="37" name="pipeline stat 3 jobs"/>
          <p:cNvSpPr/>
          <p:nvPr/>
        </p:nvSpPr>
        <p:spPr>
          <a:xfrm>
            <a:off x="457200" y="3154680"/>
            <a:ext cx="2606040" cy="1325880"/>
          </a:xfrm>
          <a:prstGeom prst="roundRect">
            <a:avLst>
              <a:gd name="adj" fmla="val 8276"/>
            </a:avLst>
          </a:prstGeom>
          <a:solidFill>
            <a:schemeClr val="tx2"/>
          </a:solidFill>
          <a:ln w="12700">
            <a:solidFill>
              <a:schemeClr val="tx2"/>
            </a:solidFill>
            <a:prstDash val="solid"/>
          </a:ln>
        </p:spPr>
      </p:sp>
      <p:sp>
        <p:nvSpPr>
          <p:cNvPr id="38" name="pipeline stat 3 jobs value"/>
          <p:cNvSpPr txBox="1"/>
          <p:nvPr/>
        </p:nvSpPr>
        <p:spPr>
          <a:xfrm>
            <a:off x="685800" y="3291840"/>
            <a:ext cx="2194560" cy="594360"/>
          </a:xfrm>
          <a:prstGeom prst="rect">
            <a:avLst/>
          </a:prstGeom>
          <a:noFill/>
          <a:ln/>
        </p:spPr>
        <p:txBody>
          <a:bodyPr wrap="square" lIns="0" tIns="0" rIns="0" bIns="0" rtlCol="0" anchor="ctr"/>
          <a:lstStyle/>
          <a:p>
            <a:pPr indent="0" marL="0">
              <a:buNone/>
            </a:pPr>
            <a:r>
              <a:rPr lang="en-US" sz="3200" b="1" dirty="0">
                <a:solidFill>
                  <a:schemeClr val="accent1"/>
                </a:solidFill>
              </a:rPr>
              <a:t>3 jobs</a:t>
            </a:r>
            <a:endParaRPr lang="en-US" sz="3200" dirty="0"/>
          </a:p>
        </p:txBody>
      </p:sp>
      <p:sp>
        <p:nvSpPr>
          <p:cNvPr id="39" name="pipeline stat 3 jobs label"/>
          <p:cNvSpPr txBox="1"/>
          <p:nvPr/>
        </p:nvSpPr>
        <p:spPr>
          <a:xfrm>
            <a:off x="685800" y="3886200"/>
            <a:ext cx="2194560" cy="457200"/>
          </a:xfrm>
          <a:prstGeom prst="rect">
            <a:avLst/>
          </a:prstGeom>
          <a:noFill/>
          <a:ln/>
        </p:spPr>
        <p:txBody>
          <a:bodyPr wrap="square" lIns="0" tIns="0" rIns="0" bIns="0" rtlCol="0" anchor="ctr"/>
          <a:lstStyle/>
          <a:p>
            <a:pPr indent="0" marL="0">
              <a:buNone/>
            </a:pPr>
            <a:r>
              <a:rPr lang="en-US" sz="1300" dirty="0">
                <a:solidFill>
                  <a:schemeClr val="bg2"/>
                </a:solidFill>
              </a:rPr>
              <a:t>test → build &amp; scan → GitOps</a:t>
            </a:r>
            <a:endParaRPr lang="en-US" sz="1300" dirty="0"/>
          </a:p>
        </p:txBody>
      </p:sp>
      <p:sp>
        <p:nvSpPr>
          <p:cNvPr id="40" name="pipeline stat ≈ 2 min"/>
          <p:cNvSpPr/>
          <p:nvPr/>
        </p:nvSpPr>
        <p:spPr>
          <a:xfrm>
            <a:off x="3246120" y="3154680"/>
            <a:ext cx="2606040" cy="1325880"/>
          </a:xfrm>
          <a:prstGeom prst="roundRect">
            <a:avLst>
              <a:gd name="adj" fmla="val 8276"/>
            </a:avLst>
          </a:prstGeom>
          <a:solidFill>
            <a:schemeClr val="tx2"/>
          </a:solidFill>
          <a:ln w="12700">
            <a:solidFill>
              <a:schemeClr val="tx2"/>
            </a:solidFill>
            <a:prstDash val="solid"/>
          </a:ln>
        </p:spPr>
      </p:sp>
      <p:sp>
        <p:nvSpPr>
          <p:cNvPr id="41" name="pipeline stat ≈ 2 min value"/>
          <p:cNvSpPr txBox="1"/>
          <p:nvPr/>
        </p:nvSpPr>
        <p:spPr>
          <a:xfrm>
            <a:off x="3474720" y="3291840"/>
            <a:ext cx="2194560" cy="594360"/>
          </a:xfrm>
          <a:prstGeom prst="rect">
            <a:avLst/>
          </a:prstGeom>
          <a:noFill/>
          <a:ln/>
        </p:spPr>
        <p:txBody>
          <a:bodyPr wrap="square" lIns="0" tIns="0" rIns="0" bIns="0" rtlCol="0" anchor="ctr"/>
          <a:lstStyle/>
          <a:p>
            <a:pPr indent="0" marL="0">
              <a:buNone/>
            </a:pPr>
            <a:r>
              <a:rPr lang="en-US" sz="3200" b="1" dirty="0">
                <a:solidFill>
                  <a:schemeClr val="accent1"/>
                </a:solidFill>
              </a:rPr>
              <a:t>≈ 2 min</a:t>
            </a:r>
            <a:endParaRPr lang="en-US" sz="3200" dirty="0"/>
          </a:p>
        </p:txBody>
      </p:sp>
      <p:sp>
        <p:nvSpPr>
          <p:cNvPr id="42" name="pipeline stat ≈ 2 min label"/>
          <p:cNvSpPr txBox="1"/>
          <p:nvPr/>
        </p:nvSpPr>
        <p:spPr>
          <a:xfrm>
            <a:off x="3474720" y="3886200"/>
            <a:ext cx="2194560" cy="457200"/>
          </a:xfrm>
          <a:prstGeom prst="rect">
            <a:avLst/>
          </a:prstGeom>
          <a:noFill/>
          <a:ln/>
        </p:spPr>
        <p:txBody>
          <a:bodyPr wrap="square" lIns="0" tIns="0" rIns="0" bIns="0" rtlCol="0" anchor="ctr"/>
          <a:lstStyle/>
          <a:p>
            <a:pPr indent="0" marL="0">
              <a:buNone/>
            </a:pPr>
            <a:r>
              <a:rPr lang="en-US" sz="1300" dirty="0">
                <a:solidFill>
                  <a:schemeClr val="bg2"/>
                </a:solidFill>
              </a:rPr>
              <a:t>push to green pipeline</a:t>
            </a:r>
            <a:endParaRPr lang="en-US" sz="1300" dirty="0"/>
          </a:p>
        </p:txBody>
      </p:sp>
      <p:sp>
        <p:nvSpPr>
          <p:cNvPr id="43" name="pipeline stat 0"/>
          <p:cNvSpPr/>
          <p:nvPr/>
        </p:nvSpPr>
        <p:spPr>
          <a:xfrm>
            <a:off x="6035040" y="3154680"/>
            <a:ext cx="2606040" cy="1325880"/>
          </a:xfrm>
          <a:prstGeom prst="roundRect">
            <a:avLst>
              <a:gd name="adj" fmla="val 8276"/>
            </a:avLst>
          </a:prstGeom>
          <a:solidFill>
            <a:schemeClr val="tx2"/>
          </a:solidFill>
          <a:ln w="12700">
            <a:solidFill>
              <a:schemeClr val="tx2"/>
            </a:solidFill>
            <a:prstDash val="solid"/>
          </a:ln>
        </p:spPr>
      </p:sp>
      <p:sp>
        <p:nvSpPr>
          <p:cNvPr id="44" name="pipeline stat 0 value"/>
          <p:cNvSpPr txBox="1"/>
          <p:nvPr/>
        </p:nvSpPr>
        <p:spPr>
          <a:xfrm>
            <a:off x="6263640" y="3291840"/>
            <a:ext cx="2194560" cy="594360"/>
          </a:xfrm>
          <a:prstGeom prst="rect">
            <a:avLst/>
          </a:prstGeom>
          <a:noFill/>
          <a:ln/>
        </p:spPr>
        <p:txBody>
          <a:bodyPr wrap="square" lIns="0" tIns="0" rIns="0" bIns="0" rtlCol="0" anchor="ctr"/>
          <a:lstStyle/>
          <a:p>
            <a:pPr indent="0" marL="0">
              <a:buNone/>
            </a:pPr>
            <a:r>
              <a:rPr lang="en-US" sz="3200" b="1" dirty="0">
                <a:solidFill>
                  <a:schemeClr val="accent1"/>
                </a:solidFill>
              </a:rPr>
              <a:t>0</a:t>
            </a:r>
            <a:endParaRPr lang="en-US" sz="3200" dirty="0"/>
          </a:p>
        </p:txBody>
      </p:sp>
      <p:sp>
        <p:nvSpPr>
          <p:cNvPr id="45" name="pipeline stat 0 label"/>
          <p:cNvSpPr txBox="1"/>
          <p:nvPr/>
        </p:nvSpPr>
        <p:spPr>
          <a:xfrm>
            <a:off x="6263640" y="3886200"/>
            <a:ext cx="2194560" cy="457200"/>
          </a:xfrm>
          <a:prstGeom prst="rect">
            <a:avLst/>
          </a:prstGeom>
          <a:noFill/>
          <a:ln/>
        </p:spPr>
        <p:txBody>
          <a:bodyPr wrap="square" lIns="0" tIns="0" rIns="0" bIns="0" rtlCol="0" anchor="ctr"/>
          <a:lstStyle/>
          <a:p>
            <a:pPr indent="0" marL="0">
              <a:buNone/>
            </a:pPr>
            <a:r>
              <a:rPr lang="en-US" sz="1300" dirty="0">
                <a:solidFill>
                  <a:schemeClr val="bg2"/>
                </a:solidFill>
              </a:rPr>
              <a:t>cloud credentials stored in CI</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Infrastructure as code with Terraform</a:t>
            </a:r>
            <a:endParaRPr lang="en-US" sz="3000" dirty="0"/>
          </a:p>
        </p:txBody>
      </p:sp>
      <p:sp>
        <p:nvSpPr>
          <p:cNvPr id="3" name="infra stat resources in one plan"/>
          <p:cNvSpPr/>
          <p:nvPr/>
        </p:nvSpPr>
        <p:spPr>
          <a:xfrm>
            <a:off x="457200" y="1097280"/>
            <a:ext cx="1920240" cy="1188720"/>
          </a:xfrm>
          <a:prstGeom prst="roundRect">
            <a:avLst>
              <a:gd name="adj" fmla="val 9231"/>
            </a:avLst>
          </a:prstGeom>
          <a:solidFill>
            <a:schemeClr val="tx2"/>
          </a:solidFill>
          <a:ln w="12700">
            <a:solidFill>
              <a:schemeClr val="tx2"/>
            </a:solidFill>
            <a:prstDash val="solid"/>
          </a:ln>
        </p:spPr>
      </p:sp>
      <p:sp>
        <p:nvSpPr>
          <p:cNvPr id="4" name="infra resources in one plan value"/>
          <p:cNvSpPr txBox="1"/>
          <p:nvPr/>
        </p:nvSpPr>
        <p:spPr>
          <a:xfrm>
            <a:off x="640080" y="1207008"/>
            <a:ext cx="1645920" cy="548640"/>
          </a:xfrm>
          <a:prstGeom prst="rect">
            <a:avLst/>
          </a:prstGeom>
          <a:noFill/>
          <a:ln/>
        </p:spPr>
        <p:txBody>
          <a:bodyPr wrap="square" lIns="0" tIns="0" rIns="0" bIns="0" rtlCol="0" anchor="ctr"/>
          <a:lstStyle/>
          <a:p>
            <a:pPr indent="0" marL="0">
              <a:buNone/>
            </a:pPr>
            <a:r>
              <a:rPr lang="en-US" sz="3000" b="1" dirty="0">
                <a:solidFill>
                  <a:schemeClr val="accent1"/>
                </a:solidFill>
              </a:rPr>
              <a:t>64</a:t>
            </a:r>
            <a:endParaRPr lang="en-US" sz="3000" dirty="0"/>
          </a:p>
        </p:txBody>
      </p:sp>
      <p:sp>
        <p:nvSpPr>
          <p:cNvPr id="5" name="infra resources in one plan label"/>
          <p:cNvSpPr txBox="1"/>
          <p:nvPr/>
        </p:nvSpPr>
        <p:spPr>
          <a:xfrm>
            <a:off x="640080" y="1755648"/>
            <a:ext cx="1645920" cy="457200"/>
          </a:xfrm>
          <a:prstGeom prst="rect">
            <a:avLst/>
          </a:prstGeom>
          <a:noFill/>
          <a:ln/>
        </p:spPr>
        <p:txBody>
          <a:bodyPr wrap="square" lIns="0" tIns="0" rIns="0" bIns="0" rtlCol="0" anchor="ctr"/>
          <a:lstStyle/>
          <a:p>
            <a:pPr indent="0" marL="0">
              <a:buNone/>
            </a:pPr>
            <a:r>
              <a:rPr lang="en-US" sz="1200" dirty="0">
                <a:solidFill>
                  <a:schemeClr val="bg2"/>
                </a:solidFill>
              </a:rPr>
              <a:t>resources in one plan</a:t>
            </a:r>
            <a:endParaRPr lang="en-US" sz="1200" dirty="0"/>
          </a:p>
        </p:txBody>
      </p:sp>
      <p:sp>
        <p:nvSpPr>
          <p:cNvPr id="6" name="infra stat public + private subnets"/>
          <p:cNvSpPr/>
          <p:nvPr/>
        </p:nvSpPr>
        <p:spPr>
          <a:xfrm>
            <a:off x="2560320" y="1097280"/>
            <a:ext cx="1920240" cy="1188720"/>
          </a:xfrm>
          <a:prstGeom prst="roundRect">
            <a:avLst>
              <a:gd name="adj" fmla="val 9231"/>
            </a:avLst>
          </a:prstGeom>
          <a:solidFill>
            <a:schemeClr val="tx2"/>
          </a:solidFill>
          <a:ln w="12700">
            <a:solidFill>
              <a:schemeClr val="tx2"/>
            </a:solidFill>
            <a:prstDash val="solid"/>
          </a:ln>
        </p:spPr>
      </p:sp>
      <p:sp>
        <p:nvSpPr>
          <p:cNvPr id="7" name="infra public + private subnets value"/>
          <p:cNvSpPr txBox="1"/>
          <p:nvPr/>
        </p:nvSpPr>
        <p:spPr>
          <a:xfrm>
            <a:off x="2743200" y="1207008"/>
            <a:ext cx="1645920" cy="548640"/>
          </a:xfrm>
          <a:prstGeom prst="rect">
            <a:avLst/>
          </a:prstGeom>
          <a:noFill/>
          <a:ln/>
        </p:spPr>
        <p:txBody>
          <a:bodyPr wrap="square" lIns="0" tIns="0" rIns="0" bIns="0" rtlCol="0" anchor="ctr"/>
          <a:lstStyle/>
          <a:p>
            <a:pPr indent="0" marL="0">
              <a:buNone/>
            </a:pPr>
            <a:r>
              <a:rPr lang="en-US" sz="3000" b="1" dirty="0">
                <a:solidFill>
                  <a:schemeClr val="accent2"/>
                </a:solidFill>
              </a:rPr>
              <a:t>2 + 2</a:t>
            </a:r>
            <a:endParaRPr lang="en-US" sz="3000" dirty="0"/>
          </a:p>
        </p:txBody>
      </p:sp>
      <p:sp>
        <p:nvSpPr>
          <p:cNvPr id="8" name="infra public + private subnets label"/>
          <p:cNvSpPr txBox="1"/>
          <p:nvPr/>
        </p:nvSpPr>
        <p:spPr>
          <a:xfrm>
            <a:off x="2743200" y="1755648"/>
            <a:ext cx="1645920" cy="457200"/>
          </a:xfrm>
          <a:prstGeom prst="rect">
            <a:avLst/>
          </a:prstGeom>
          <a:noFill/>
          <a:ln/>
        </p:spPr>
        <p:txBody>
          <a:bodyPr wrap="square" lIns="0" tIns="0" rIns="0" bIns="0" rtlCol="0" anchor="ctr"/>
          <a:lstStyle/>
          <a:p>
            <a:pPr indent="0" marL="0">
              <a:buNone/>
            </a:pPr>
            <a:r>
              <a:rPr lang="en-US" sz="1200" dirty="0">
                <a:solidFill>
                  <a:schemeClr val="bg2"/>
                </a:solidFill>
              </a:rPr>
              <a:t>public + private subnets</a:t>
            </a:r>
            <a:endParaRPr lang="en-US" sz="1200" dirty="0"/>
          </a:p>
        </p:txBody>
      </p:sp>
      <p:sp>
        <p:nvSpPr>
          <p:cNvPr id="9" name="infra stat EKS Kubernetes version"/>
          <p:cNvSpPr/>
          <p:nvPr/>
        </p:nvSpPr>
        <p:spPr>
          <a:xfrm>
            <a:off x="4663440" y="1097280"/>
            <a:ext cx="1920240" cy="1188720"/>
          </a:xfrm>
          <a:prstGeom prst="roundRect">
            <a:avLst>
              <a:gd name="adj" fmla="val 9231"/>
            </a:avLst>
          </a:prstGeom>
          <a:solidFill>
            <a:schemeClr val="tx2"/>
          </a:solidFill>
          <a:ln w="12700">
            <a:solidFill>
              <a:schemeClr val="tx2"/>
            </a:solidFill>
            <a:prstDash val="solid"/>
          </a:ln>
        </p:spPr>
      </p:sp>
      <p:sp>
        <p:nvSpPr>
          <p:cNvPr id="10" name="infra EKS Kubernetes version value"/>
          <p:cNvSpPr txBox="1"/>
          <p:nvPr/>
        </p:nvSpPr>
        <p:spPr>
          <a:xfrm>
            <a:off x="4846320" y="1207008"/>
            <a:ext cx="1645920" cy="548640"/>
          </a:xfrm>
          <a:prstGeom prst="rect">
            <a:avLst/>
          </a:prstGeom>
          <a:noFill/>
          <a:ln/>
        </p:spPr>
        <p:txBody>
          <a:bodyPr wrap="square" lIns="0" tIns="0" rIns="0" bIns="0" rtlCol="0" anchor="ctr"/>
          <a:lstStyle/>
          <a:p>
            <a:pPr indent="0" marL="0">
              <a:buNone/>
            </a:pPr>
            <a:r>
              <a:rPr lang="en-US" sz="3000" b="1" dirty="0">
                <a:solidFill>
                  <a:schemeClr val="accent1"/>
                </a:solidFill>
              </a:rPr>
              <a:t>1.36</a:t>
            </a:r>
            <a:endParaRPr lang="en-US" sz="3000" dirty="0"/>
          </a:p>
        </p:txBody>
      </p:sp>
      <p:sp>
        <p:nvSpPr>
          <p:cNvPr id="11" name="infra EKS Kubernetes version label"/>
          <p:cNvSpPr txBox="1"/>
          <p:nvPr/>
        </p:nvSpPr>
        <p:spPr>
          <a:xfrm>
            <a:off x="4846320" y="1755648"/>
            <a:ext cx="1645920" cy="457200"/>
          </a:xfrm>
          <a:prstGeom prst="rect">
            <a:avLst/>
          </a:prstGeom>
          <a:noFill/>
          <a:ln/>
        </p:spPr>
        <p:txBody>
          <a:bodyPr wrap="square" lIns="0" tIns="0" rIns="0" bIns="0" rtlCol="0" anchor="ctr"/>
          <a:lstStyle/>
          <a:p>
            <a:pPr indent="0" marL="0">
              <a:buNone/>
            </a:pPr>
            <a:r>
              <a:rPr lang="en-US" sz="1200" dirty="0">
                <a:solidFill>
                  <a:schemeClr val="bg2"/>
                </a:solidFill>
              </a:rPr>
              <a:t>EKS Kubernetes version</a:t>
            </a:r>
            <a:endParaRPr lang="en-US" sz="1200" dirty="0"/>
          </a:p>
        </p:txBody>
      </p:sp>
      <p:sp>
        <p:nvSpPr>
          <p:cNvPr id="12" name="infra stat m7i-flex.large worker nodes"/>
          <p:cNvSpPr/>
          <p:nvPr/>
        </p:nvSpPr>
        <p:spPr>
          <a:xfrm>
            <a:off x="6766560" y="1097280"/>
            <a:ext cx="1920240" cy="1188720"/>
          </a:xfrm>
          <a:prstGeom prst="roundRect">
            <a:avLst>
              <a:gd name="adj" fmla="val 9231"/>
            </a:avLst>
          </a:prstGeom>
          <a:solidFill>
            <a:schemeClr val="tx2"/>
          </a:solidFill>
          <a:ln w="12700">
            <a:solidFill>
              <a:schemeClr val="tx2"/>
            </a:solidFill>
            <a:prstDash val="solid"/>
          </a:ln>
        </p:spPr>
      </p:sp>
      <p:sp>
        <p:nvSpPr>
          <p:cNvPr id="13" name="infra m7i-flex.large worker nodes value"/>
          <p:cNvSpPr txBox="1"/>
          <p:nvPr/>
        </p:nvSpPr>
        <p:spPr>
          <a:xfrm>
            <a:off x="6949440" y="1207008"/>
            <a:ext cx="1645920" cy="548640"/>
          </a:xfrm>
          <a:prstGeom prst="rect">
            <a:avLst/>
          </a:prstGeom>
          <a:noFill/>
          <a:ln/>
        </p:spPr>
        <p:txBody>
          <a:bodyPr wrap="square" lIns="0" tIns="0" rIns="0" bIns="0" rtlCol="0" anchor="ctr"/>
          <a:lstStyle/>
          <a:p>
            <a:pPr indent="0" marL="0">
              <a:buNone/>
            </a:pPr>
            <a:r>
              <a:rPr lang="en-US" sz="3000" b="1" dirty="0">
                <a:solidFill>
                  <a:schemeClr val="accent2"/>
                </a:solidFill>
              </a:rPr>
              <a:t>2</a:t>
            </a:r>
            <a:endParaRPr lang="en-US" sz="3000" dirty="0"/>
          </a:p>
        </p:txBody>
      </p:sp>
      <p:sp>
        <p:nvSpPr>
          <p:cNvPr id="14" name="infra m7i-flex.large worker nodes label"/>
          <p:cNvSpPr txBox="1"/>
          <p:nvPr/>
        </p:nvSpPr>
        <p:spPr>
          <a:xfrm>
            <a:off x="6949440" y="1755648"/>
            <a:ext cx="1645920" cy="457200"/>
          </a:xfrm>
          <a:prstGeom prst="rect">
            <a:avLst/>
          </a:prstGeom>
          <a:noFill/>
          <a:ln/>
        </p:spPr>
        <p:txBody>
          <a:bodyPr wrap="square" lIns="0" tIns="0" rIns="0" bIns="0" rtlCol="0" anchor="ctr"/>
          <a:lstStyle/>
          <a:p>
            <a:pPr indent="0" marL="0">
              <a:buNone/>
            </a:pPr>
            <a:r>
              <a:rPr lang="en-US" sz="1200" dirty="0">
                <a:solidFill>
                  <a:schemeClr val="bg2"/>
                </a:solidFill>
              </a:rPr>
              <a:t>m7i-flex.large worker nodes</a:t>
            </a:r>
            <a:endParaRPr lang="en-US" sz="1200" dirty="0"/>
          </a:p>
        </p:txBody>
      </p:sp>
      <p:pic>
        <p:nvPicPr>
          <p:cNvPr id="15" name="liftlog-vpc resource map in the AWS console" descr="liftlog-vpc resource map in the AWS console">    </p:cNvPr>
          <p:cNvPicPr>
            <a:picLocks noChangeAspect="1"/>
          </p:cNvPicPr>
          <p:nvPr/>
        </p:nvPicPr>
        <p:blipFill>
          <a:blip r:embed="rId1"/>
          <a:stretch>
            <a:fillRect/>
          </a:stretch>
        </p:blipFill>
        <p:spPr>
          <a:xfrm>
            <a:off x="457200" y="2514600"/>
            <a:ext cx="5760720" cy="1356772"/>
          </a:xfrm>
          <a:prstGeom prst="rect">
            <a:avLst/>
          </a:prstGeom>
          <a:effectLst>
            <a:outerShdw sx="100000" sy="100000" kx="0" ky="0" algn="bl" rotWithShape="0" blurRad="101600" dist="38100" dir="5400000">
              <a:srgbClr val="000000">
                <a:alpha val="45000"/>
              </a:srgbClr>
            </a:outerShdw>
          </a:effectLst>
        </p:spPr>
      </p:pic>
      <p:sp>
        <p:nvSpPr>
          <p:cNvPr id="16" name="vpc caption"/>
          <p:cNvSpPr txBox="1"/>
          <p:nvPr/>
        </p:nvSpPr>
        <p:spPr>
          <a:xfrm>
            <a:off x="457200" y="3950208"/>
            <a:ext cx="5760720" cy="274320"/>
          </a:xfrm>
          <a:prstGeom prst="rect">
            <a:avLst/>
          </a:prstGeom>
          <a:noFill/>
          <a:ln/>
        </p:spPr>
        <p:txBody>
          <a:bodyPr wrap="square" lIns="0" tIns="0" rIns="0" bIns="0" rtlCol="0" anchor="ctr"/>
          <a:lstStyle/>
          <a:p>
            <a:pPr indent="0" marL="0">
              <a:buNone/>
            </a:pPr>
            <a:r>
              <a:rPr lang="en-US" sz="1100" i="1" dirty="0">
                <a:solidFill>
                  <a:schemeClr val="accent6"/>
                </a:solidFill>
              </a:rPr>
              <a:t>liftlog-vpc in the AWS console: subnets, route tables, internet gateway</a:t>
            </a:r>
            <a:endParaRPr lang="en-US" sz="1100" dirty="0"/>
          </a:p>
        </p:txBody>
      </p:sp>
      <p:sp>
        <p:nvSpPr>
          <p:cNvPr id="17" name="terraform plan"/>
          <p:cNvSpPr/>
          <p:nvPr/>
        </p:nvSpPr>
        <p:spPr>
          <a:xfrm>
            <a:off x="6492240" y="2514600"/>
            <a:ext cx="2194560" cy="502920"/>
          </a:xfrm>
          <a:prstGeom prst="roundRect">
            <a:avLst>
              <a:gd name="adj" fmla="val 14545"/>
            </a:avLst>
          </a:prstGeom>
          <a:solidFill>
            <a:schemeClr val="tx2"/>
          </a:solidFill>
          <a:ln w="12700">
            <a:solidFill>
              <a:schemeClr val="accent2"/>
            </a:solidFill>
            <a:prstDash val="solid"/>
          </a:ln>
        </p:spPr>
      </p:sp>
      <p:sp>
        <p:nvSpPr>
          <p:cNvPr id="18" name="terraform plan label"/>
          <p:cNvSpPr txBox="1"/>
          <p:nvPr/>
        </p:nvSpPr>
        <p:spPr>
          <a:xfrm>
            <a:off x="6583680" y="2514600"/>
            <a:ext cx="2057400" cy="502920"/>
          </a:xfrm>
          <a:prstGeom prst="rect">
            <a:avLst/>
          </a:prstGeom>
          <a:noFill/>
          <a:ln/>
        </p:spPr>
        <p:txBody>
          <a:bodyPr wrap="square" lIns="0" tIns="0" rIns="0" bIns="0" rtlCol="0" anchor="ctr"/>
          <a:lstStyle/>
          <a:p>
            <a:pPr indent="0" marL="0">
              <a:buNone/>
            </a:pPr>
            <a:r>
              <a:rPr lang="en-US" sz="1200" b="1" dirty="0">
                <a:solidFill>
                  <a:schemeClr val="bg1"/>
                </a:solidFill>
              </a:rPr>
              <a:t>terraform plan</a:t>
            </a:r>
            <a:endParaRPr lang="en-US" sz="1200" dirty="0"/>
          </a:p>
          <a:p>
            <a:pPr indent="0" marL="0">
              <a:buNone/>
            </a:pPr>
            <a:r>
              <a:rPr lang="en-US" sz="1100" dirty="0">
                <a:solidFill>
                  <a:schemeClr val="bg2"/>
                </a:solidFill>
              </a:rPr>
              <a:t>64 to add</a:t>
            </a:r>
            <a:endParaRPr lang="en-US" sz="1200" dirty="0"/>
          </a:p>
        </p:txBody>
      </p:sp>
      <p:sp>
        <p:nvSpPr>
          <p:cNvPr id="19" name="terraform apply"/>
          <p:cNvSpPr/>
          <p:nvPr/>
        </p:nvSpPr>
        <p:spPr>
          <a:xfrm>
            <a:off x="6492240" y="3136392"/>
            <a:ext cx="2194560" cy="502920"/>
          </a:xfrm>
          <a:prstGeom prst="roundRect">
            <a:avLst>
              <a:gd name="adj" fmla="val 14545"/>
            </a:avLst>
          </a:prstGeom>
          <a:solidFill>
            <a:schemeClr val="tx2"/>
          </a:solidFill>
          <a:ln w="12700">
            <a:solidFill>
              <a:schemeClr val="accent2"/>
            </a:solidFill>
            <a:prstDash val="solid"/>
          </a:ln>
        </p:spPr>
      </p:sp>
      <p:sp>
        <p:nvSpPr>
          <p:cNvPr id="20" name="terraform apply label"/>
          <p:cNvSpPr txBox="1"/>
          <p:nvPr/>
        </p:nvSpPr>
        <p:spPr>
          <a:xfrm>
            <a:off x="6583680" y="3136392"/>
            <a:ext cx="2057400" cy="502920"/>
          </a:xfrm>
          <a:prstGeom prst="rect">
            <a:avLst/>
          </a:prstGeom>
          <a:noFill/>
          <a:ln/>
        </p:spPr>
        <p:txBody>
          <a:bodyPr wrap="square" lIns="0" tIns="0" rIns="0" bIns="0" rtlCol="0" anchor="ctr"/>
          <a:lstStyle/>
          <a:p>
            <a:pPr indent="0" marL="0">
              <a:buNone/>
            </a:pPr>
            <a:r>
              <a:rPr lang="en-US" sz="1200" b="1" dirty="0">
                <a:solidFill>
                  <a:schemeClr val="bg1"/>
                </a:solidFill>
              </a:rPr>
              <a:t>terraform apply</a:t>
            </a:r>
            <a:endParaRPr lang="en-US" sz="1200" dirty="0"/>
          </a:p>
          <a:p>
            <a:pPr indent="0" marL="0">
              <a:buNone/>
            </a:pPr>
            <a:r>
              <a:rPr lang="en-US" sz="1100" dirty="0">
                <a:solidFill>
                  <a:schemeClr val="bg2"/>
                </a:solidFill>
              </a:rPr>
              <a:t>VPC + EKS ≈ 20 min</a:t>
            </a:r>
            <a:endParaRPr lang="en-US" sz="1200" dirty="0"/>
          </a:p>
        </p:txBody>
      </p:sp>
      <p:sp>
        <p:nvSpPr>
          <p:cNvPr id="21" name="terraform destroy"/>
          <p:cNvSpPr/>
          <p:nvPr/>
        </p:nvSpPr>
        <p:spPr>
          <a:xfrm>
            <a:off x="6492240" y="3758184"/>
            <a:ext cx="2194560" cy="502920"/>
          </a:xfrm>
          <a:prstGeom prst="roundRect">
            <a:avLst>
              <a:gd name="adj" fmla="val 14545"/>
            </a:avLst>
          </a:prstGeom>
          <a:solidFill>
            <a:schemeClr val="tx2"/>
          </a:solidFill>
          <a:ln w="12700">
            <a:solidFill>
              <a:schemeClr val="accent2"/>
            </a:solidFill>
            <a:prstDash val="solid"/>
          </a:ln>
        </p:spPr>
      </p:sp>
      <p:sp>
        <p:nvSpPr>
          <p:cNvPr id="22" name="terraform destroy label"/>
          <p:cNvSpPr txBox="1"/>
          <p:nvPr/>
        </p:nvSpPr>
        <p:spPr>
          <a:xfrm>
            <a:off x="6583680" y="3758184"/>
            <a:ext cx="2057400" cy="502920"/>
          </a:xfrm>
          <a:prstGeom prst="rect">
            <a:avLst/>
          </a:prstGeom>
          <a:noFill/>
          <a:ln/>
        </p:spPr>
        <p:txBody>
          <a:bodyPr wrap="square" lIns="0" tIns="0" rIns="0" bIns="0" rtlCol="0" anchor="ctr"/>
          <a:lstStyle/>
          <a:p>
            <a:pPr indent="0" marL="0">
              <a:buNone/>
            </a:pPr>
            <a:r>
              <a:rPr lang="en-US" sz="1200" b="1" dirty="0">
                <a:solidFill>
                  <a:schemeClr val="bg1"/>
                </a:solidFill>
              </a:rPr>
              <a:t>terraform destroy</a:t>
            </a:r>
            <a:endParaRPr lang="en-US" sz="1200" dirty="0"/>
          </a:p>
          <a:p>
            <a:pPr indent="0" marL="0">
              <a:buNone/>
            </a:pPr>
            <a:r>
              <a:rPr lang="en-US" sz="1100" dirty="0">
                <a:solidFill>
                  <a:schemeClr val="bg2"/>
                </a:solidFill>
              </a:rPr>
              <a:t>64 destroyed, $0 left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Kubernetes on EKS: Helm + Argo CD</a:t>
            </a:r>
            <a:endParaRPr lang="en-US" sz="3000" dirty="0"/>
          </a:p>
        </p:txBody>
      </p:sp>
      <p:sp>
        <p:nvSpPr>
          <p:cNvPr id="3" name="Helm chart circle"/>
          <p:cNvSpPr/>
          <p:nvPr/>
        </p:nvSpPr>
        <p:spPr>
          <a:xfrm>
            <a:off x="457200" y="1143000"/>
            <a:ext cx="548640" cy="548640"/>
          </a:xfrm>
          <a:prstGeom prst="ellipse">
            <a:avLst/>
          </a:prstGeom>
          <a:solidFill>
            <a:schemeClr val="accent1"/>
          </a:solidFill>
          <a:ln w="12700">
            <a:solidFill>
              <a:schemeClr val="accent1"/>
            </a:solidFill>
            <a:prstDash val="solid"/>
          </a:ln>
        </p:spPr>
      </p:sp>
      <p:pic>
        <p:nvPicPr>
          <p:cNvPr id="4" name="Helm chart icon" descr="Helm chart">    </p:cNvPr>
          <p:cNvPicPr>
            <a:picLocks noChangeAspect="1"/>
          </p:cNvPicPr>
          <p:nvPr/>
        </p:nvPicPr>
        <p:blipFill>
          <a:blip r:embed="rId1"/>
          <a:stretch>
            <a:fillRect/>
          </a:stretch>
        </p:blipFill>
        <p:spPr>
          <a:xfrm>
            <a:off x="594360" y="1280160"/>
            <a:ext cx="274320" cy="274320"/>
          </a:xfrm>
          <a:prstGeom prst="rect">
            <a:avLst/>
          </a:prstGeom>
        </p:spPr>
      </p:pic>
      <p:sp>
        <p:nvSpPr>
          <p:cNvPr id="5" name="k8s Helm chart title"/>
          <p:cNvSpPr txBox="1"/>
          <p:nvPr/>
        </p:nvSpPr>
        <p:spPr>
          <a:xfrm>
            <a:off x="1188720" y="1124712"/>
            <a:ext cx="3108960" cy="292608"/>
          </a:xfrm>
          <a:prstGeom prst="rect">
            <a:avLst/>
          </a:prstGeom>
          <a:noFill/>
          <a:ln/>
        </p:spPr>
        <p:txBody>
          <a:bodyPr wrap="square" lIns="0" tIns="0" rIns="0" bIns="0" rtlCol="0" anchor="ctr"/>
          <a:lstStyle/>
          <a:p>
            <a:pPr indent="0" marL="0">
              <a:buNone/>
            </a:pPr>
            <a:r>
              <a:rPr lang="en-US" sz="1500" b="1" dirty="0">
                <a:solidFill>
                  <a:schemeClr val="bg1"/>
                </a:solidFill>
              </a:rPr>
              <a:t>Helm chart</a:t>
            </a:r>
            <a:endParaRPr lang="en-US" sz="1500" dirty="0"/>
          </a:p>
        </p:txBody>
      </p:sp>
      <p:sp>
        <p:nvSpPr>
          <p:cNvPr id="6" name="k8s Helm chart desc"/>
          <p:cNvSpPr txBox="1"/>
          <p:nvPr/>
        </p:nvSpPr>
        <p:spPr>
          <a:xfrm>
            <a:off x="1188720" y="1417320"/>
            <a:ext cx="3108960" cy="292608"/>
          </a:xfrm>
          <a:prstGeom prst="rect">
            <a:avLst/>
          </a:prstGeom>
          <a:noFill/>
          <a:ln/>
        </p:spPr>
        <p:txBody>
          <a:bodyPr wrap="square" lIns="0" tIns="0" rIns="0" bIns="0" rtlCol="0" anchor="ctr"/>
          <a:lstStyle/>
          <a:p>
            <a:pPr indent="0" marL="0">
              <a:buNone/>
            </a:pPr>
            <a:r>
              <a:rPr lang="en-US" sz="1200" dirty="0">
                <a:solidFill>
                  <a:schemeClr val="bg2"/>
                </a:solidFill>
              </a:rPr>
              <a:t>backend + frontend ×2, HPA 2–6, ServiceMonitor</a:t>
            </a:r>
            <a:endParaRPr lang="en-US" sz="1200" dirty="0"/>
          </a:p>
        </p:txBody>
      </p:sp>
      <p:sp>
        <p:nvSpPr>
          <p:cNvPr id="7" name="ALB Ingress circle"/>
          <p:cNvSpPr/>
          <p:nvPr/>
        </p:nvSpPr>
        <p:spPr>
          <a:xfrm>
            <a:off x="457200" y="2011680"/>
            <a:ext cx="548640" cy="548640"/>
          </a:xfrm>
          <a:prstGeom prst="ellipse">
            <a:avLst/>
          </a:prstGeom>
          <a:solidFill>
            <a:schemeClr val="accent1"/>
          </a:solidFill>
          <a:ln w="12700">
            <a:solidFill>
              <a:schemeClr val="accent1"/>
            </a:solidFill>
            <a:prstDash val="solid"/>
          </a:ln>
        </p:spPr>
      </p:sp>
      <p:pic>
        <p:nvPicPr>
          <p:cNvPr id="8" name="ALB Ingress icon" descr="ALB Ingress">    </p:cNvPr>
          <p:cNvPicPr>
            <a:picLocks noChangeAspect="1"/>
          </p:cNvPicPr>
          <p:nvPr/>
        </p:nvPicPr>
        <p:blipFill>
          <a:blip r:embed="rId2"/>
          <a:stretch>
            <a:fillRect/>
          </a:stretch>
        </p:blipFill>
        <p:spPr>
          <a:xfrm>
            <a:off x="594360" y="2148840"/>
            <a:ext cx="274320" cy="274320"/>
          </a:xfrm>
          <a:prstGeom prst="rect">
            <a:avLst/>
          </a:prstGeom>
        </p:spPr>
      </p:pic>
      <p:sp>
        <p:nvSpPr>
          <p:cNvPr id="9" name="k8s ALB Ingress title"/>
          <p:cNvSpPr txBox="1"/>
          <p:nvPr/>
        </p:nvSpPr>
        <p:spPr>
          <a:xfrm>
            <a:off x="1188720" y="1993392"/>
            <a:ext cx="3108960" cy="292608"/>
          </a:xfrm>
          <a:prstGeom prst="rect">
            <a:avLst/>
          </a:prstGeom>
          <a:noFill/>
          <a:ln/>
        </p:spPr>
        <p:txBody>
          <a:bodyPr wrap="square" lIns="0" tIns="0" rIns="0" bIns="0" rtlCol="0" anchor="ctr"/>
          <a:lstStyle/>
          <a:p>
            <a:pPr indent="0" marL="0">
              <a:buNone/>
            </a:pPr>
            <a:r>
              <a:rPr lang="en-US" sz="1500" b="1" dirty="0">
                <a:solidFill>
                  <a:schemeClr val="bg1"/>
                </a:solidFill>
              </a:rPr>
              <a:t>ALB Ingress</a:t>
            </a:r>
            <a:endParaRPr lang="en-US" sz="1500" dirty="0"/>
          </a:p>
        </p:txBody>
      </p:sp>
      <p:sp>
        <p:nvSpPr>
          <p:cNvPr id="10" name="k8s ALB Ingress desc"/>
          <p:cNvSpPr txBox="1"/>
          <p:nvPr/>
        </p:nvSpPr>
        <p:spPr>
          <a:xfrm>
            <a:off x="1188720" y="2286000"/>
            <a:ext cx="3108960" cy="292608"/>
          </a:xfrm>
          <a:prstGeom prst="rect">
            <a:avLst/>
          </a:prstGeom>
          <a:noFill/>
          <a:ln/>
        </p:spPr>
        <p:txBody>
          <a:bodyPr wrap="square" lIns="0" tIns="0" rIns="0" bIns="0" rtlCol="0" anchor="ctr"/>
          <a:lstStyle/>
          <a:p>
            <a:pPr indent="0" marL="0">
              <a:buNone/>
            </a:pPr>
            <a:r>
              <a:rPr lang="en-US" sz="1200" dirty="0">
                <a:solidFill>
                  <a:schemeClr val="bg2"/>
                </a:solidFill>
              </a:rPr>
              <a:t>/ → frontend, /api → backend</a:t>
            </a:r>
            <a:endParaRPr lang="en-US" sz="1200" dirty="0"/>
          </a:p>
        </p:txBody>
      </p:sp>
      <p:sp>
        <p:nvSpPr>
          <p:cNvPr id="11" name="Persistent Postgres circle"/>
          <p:cNvSpPr/>
          <p:nvPr/>
        </p:nvSpPr>
        <p:spPr>
          <a:xfrm>
            <a:off x="457200" y="2880360"/>
            <a:ext cx="548640" cy="548640"/>
          </a:xfrm>
          <a:prstGeom prst="ellipse">
            <a:avLst/>
          </a:prstGeom>
          <a:solidFill>
            <a:schemeClr val="accent1"/>
          </a:solidFill>
          <a:ln w="12700">
            <a:solidFill>
              <a:schemeClr val="accent1"/>
            </a:solidFill>
            <a:prstDash val="solid"/>
          </a:ln>
        </p:spPr>
      </p:sp>
      <p:pic>
        <p:nvPicPr>
          <p:cNvPr id="12" name="Persistent Postgres icon" descr="Persistent Postgres">    </p:cNvPr>
          <p:cNvPicPr>
            <a:picLocks noChangeAspect="1"/>
          </p:cNvPicPr>
          <p:nvPr/>
        </p:nvPicPr>
        <p:blipFill>
          <a:blip r:embed="rId3"/>
          <a:stretch>
            <a:fillRect/>
          </a:stretch>
        </p:blipFill>
        <p:spPr>
          <a:xfrm>
            <a:off x="594360" y="3017520"/>
            <a:ext cx="274320" cy="274320"/>
          </a:xfrm>
          <a:prstGeom prst="rect">
            <a:avLst/>
          </a:prstGeom>
        </p:spPr>
      </p:pic>
      <p:sp>
        <p:nvSpPr>
          <p:cNvPr id="13" name="k8s Persistent Postgres title"/>
          <p:cNvSpPr txBox="1"/>
          <p:nvPr/>
        </p:nvSpPr>
        <p:spPr>
          <a:xfrm>
            <a:off x="1188720" y="2862072"/>
            <a:ext cx="3108960" cy="292608"/>
          </a:xfrm>
          <a:prstGeom prst="rect">
            <a:avLst/>
          </a:prstGeom>
          <a:noFill/>
          <a:ln/>
        </p:spPr>
        <p:txBody>
          <a:bodyPr wrap="square" lIns="0" tIns="0" rIns="0" bIns="0" rtlCol="0" anchor="ctr"/>
          <a:lstStyle/>
          <a:p>
            <a:pPr indent="0" marL="0">
              <a:buNone/>
            </a:pPr>
            <a:r>
              <a:rPr lang="en-US" sz="1500" b="1" dirty="0">
                <a:solidFill>
                  <a:schemeClr val="bg1"/>
                </a:solidFill>
              </a:rPr>
              <a:t>Persistent Postgres</a:t>
            </a:r>
            <a:endParaRPr lang="en-US" sz="1500" dirty="0"/>
          </a:p>
        </p:txBody>
      </p:sp>
      <p:sp>
        <p:nvSpPr>
          <p:cNvPr id="14" name="k8s Persistent Postgres desc"/>
          <p:cNvSpPr txBox="1"/>
          <p:nvPr/>
        </p:nvSpPr>
        <p:spPr>
          <a:xfrm>
            <a:off x="1188720" y="3154680"/>
            <a:ext cx="3108960" cy="292608"/>
          </a:xfrm>
          <a:prstGeom prst="rect">
            <a:avLst/>
          </a:prstGeom>
          <a:noFill/>
          <a:ln/>
        </p:spPr>
        <p:txBody>
          <a:bodyPr wrap="square" lIns="0" tIns="0" rIns="0" bIns="0" rtlCol="0" anchor="ctr"/>
          <a:lstStyle/>
          <a:p>
            <a:pPr indent="0" marL="0">
              <a:buNone/>
            </a:pPr>
            <a:r>
              <a:rPr lang="en-US" sz="1200" dirty="0">
                <a:solidFill>
                  <a:schemeClr val="bg2"/>
                </a:solidFill>
              </a:rPr>
              <a:t>gp3 EBS volume via the EBS CSI driver</a:t>
            </a:r>
            <a:endParaRPr lang="en-US" sz="1200" dirty="0"/>
          </a:p>
        </p:txBody>
      </p:sp>
      <p:sp>
        <p:nvSpPr>
          <p:cNvPr id="15" name="Argo CD circle"/>
          <p:cNvSpPr/>
          <p:nvPr/>
        </p:nvSpPr>
        <p:spPr>
          <a:xfrm>
            <a:off x="457200" y="3749040"/>
            <a:ext cx="548640" cy="548640"/>
          </a:xfrm>
          <a:prstGeom prst="ellipse">
            <a:avLst/>
          </a:prstGeom>
          <a:solidFill>
            <a:schemeClr val="accent2"/>
          </a:solidFill>
          <a:ln w="12700">
            <a:solidFill>
              <a:schemeClr val="accent2"/>
            </a:solidFill>
            <a:prstDash val="solid"/>
          </a:ln>
        </p:spPr>
      </p:sp>
      <p:pic>
        <p:nvPicPr>
          <p:cNvPr id="16" name="Argo CD icon" descr="Argo CD">    </p:cNvPr>
          <p:cNvPicPr>
            <a:picLocks noChangeAspect="1"/>
          </p:cNvPicPr>
          <p:nvPr/>
        </p:nvPicPr>
        <p:blipFill>
          <a:blip r:embed="rId4"/>
          <a:stretch>
            <a:fillRect/>
          </a:stretch>
        </p:blipFill>
        <p:spPr>
          <a:xfrm>
            <a:off x="594360" y="3886200"/>
            <a:ext cx="274320" cy="274320"/>
          </a:xfrm>
          <a:prstGeom prst="rect">
            <a:avLst/>
          </a:prstGeom>
        </p:spPr>
      </p:pic>
      <p:sp>
        <p:nvSpPr>
          <p:cNvPr id="17" name="k8s Argo CD title"/>
          <p:cNvSpPr txBox="1"/>
          <p:nvPr/>
        </p:nvSpPr>
        <p:spPr>
          <a:xfrm>
            <a:off x="1188720" y="3730752"/>
            <a:ext cx="3108960" cy="292608"/>
          </a:xfrm>
          <a:prstGeom prst="rect">
            <a:avLst/>
          </a:prstGeom>
          <a:noFill/>
          <a:ln/>
        </p:spPr>
        <p:txBody>
          <a:bodyPr wrap="square" lIns="0" tIns="0" rIns="0" bIns="0" rtlCol="0" anchor="ctr"/>
          <a:lstStyle/>
          <a:p>
            <a:pPr indent="0" marL="0">
              <a:buNone/>
            </a:pPr>
            <a:r>
              <a:rPr lang="en-US" sz="1500" b="1" dirty="0">
                <a:solidFill>
                  <a:schemeClr val="bg1"/>
                </a:solidFill>
              </a:rPr>
              <a:t>Argo CD</a:t>
            </a:r>
            <a:endParaRPr lang="en-US" sz="1500" dirty="0"/>
          </a:p>
        </p:txBody>
      </p:sp>
      <p:sp>
        <p:nvSpPr>
          <p:cNvPr id="18" name="k8s Argo CD desc"/>
          <p:cNvSpPr txBox="1"/>
          <p:nvPr/>
        </p:nvSpPr>
        <p:spPr>
          <a:xfrm>
            <a:off x="1188720" y="4023360"/>
            <a:ext cx="3108960" cy="292608"/>
          </a:xfrm>
          <a:prstGeom prst="rect">
            <a:avLst/>
          </a:prstGeom>
          <a:noFill/>
          <a:ln/>
        </p:spPr>
        <p:txBody>
          <a:bodyPr wrap="square" lIns="0" tIns="0" rIns="0" bIns="0" rtlCol="0" anchor="ctr"/>
          <a:lstStyle/>
          <a:p>
            <a:pPr indent="0" marL="0">
              <a:buNone/>
            </a:pPr>
            <a:r>
              <a:rPr lang="en-US" sz="1200" dirty="0">
                <a:solidFill>
                  <a:schemeClr val="bg2"/>
                </a:solidFill>
              </a:rPr>
              <a:t>auto-sync and self-heal from Git</a:t>
            </a:r>
            <a:endParaRPr lang="en-US" sz="1200" dirty="0"/>
          </a:p>
        </p:txBody>
      </p:sp>
      <p:pic>
        <p:nvPicPr>
          <p:cNvPr id="19" name="Argo CD application liftlog, Healthy and Synced" descr="Argo CD application liftlog, Healthy and Synced">    </p:cNvPr>
          <p:cNvPicPr>
            <a:picLocks noChangeAspect="1"/>
          </p:cNvPicPr>
          <p:nvPr/>
        </p:nvPicPr>
        <p:blipFill>
          <a:blip r:embed="rId5"/>
          <a:stretch>
            <a:fillRect/>
          </a:stretch>
        </p:blipFill>
        <p:spPr>
          <a:xfrm>
            <a:off x="4572000" y="1097280"/>
            <a:ext cx="4114800" cy="2732484"/>
          </a:xfrm>
          <a:prstGeom prst="rect">
            <a:avLst/>
          </a:prstGeom>
          <a:effectLst>
            <a:outerShdw sx="100000" sy="100000" kx="0" ky="0" algn="bl" rotWithShape="0" blurRad="101600" dist="38100" dir="5400000">
              <a:srgbClr val="000000">
                <a:alpha val="45000"/>
              </a:srgbClr>
            </a:outerShdw>
          </a:effectLst>
        </p:spPr>
      </p:pic>
      <p:sp>
        <p:nvSpPr>
          <p:cNvPr id="20" name="argocd caption"/>
          <p:cNvSpPr txBox="1"/>
          <p:nvPr/>
        </p:nvSpPr>
        <p:spPr>
          <a:xfrm>
            <a:off x="4572000" y="3931920"/>
            <a:ext cx="4114800" cy="274320"/>
          </a:xfrm>
          <a:prstGeom prst="rect">
            <a:avLst/>
          </a:prstGeom>
          <a:noFill/>
          <a:ln/>
        </p:spPr>
        <p:txBody>
          <a:bodyPr wrap="square" lIns="0" tIns="0" rIns="0" bIns="0" rtlCol="0" anchor="ctr"/>
          <a:lstStyle/>
          <a:p>
            <a:pPr indent="0" marL="0">
              <a:buNone/>
            </a:pPr>
            <a:r>
              <a:rPr lang="en-US" sz="1100" i="1" dirty="0">
                <a:solidFill>
                  <a:schemeClr val="accent6"/>
                </a:solidFill>
              </a:rPr>
              <a:t>Argo CD on EKS: liftlog is Healthy and Synced to main</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Observability: Prometheus + Grafana</a:t>
            </a:r>
            <a:endParaRPr lang="en-US" sz="3000" dirty="0"/>
          </a:p>
        </p:txBody>
      </p:sp>
      <p:pic>
        <p:nvPicPr>
          <p:cNvPr id="3" name="Grafana LiftLog API dashboard" descr="Grafana LiftLog API dashboard">    </p:cNvPr>
          <p:cNvPicPr>
            <a:picLocks noChangeAspect="1"/>
          </p:cNvPicPr>
          <p:nvPr/>
        </p:nvPicPr>
        <p:blipFill>
          <a:blip r:embed="rId1"/>
          <a:stretch>
            <a:fillRect/>
          </a:stretch>
        </p:blipFill>
        <p:spPr>
          <a:xfrm>
            <a:off x="457200" y="1097280"/>
            <a:ext cx="5669280" cy="2648508"/>
          </a:xfrm>
          <a:prstGeom prst="rect">
            <a:avLst/>
          </a:prstGeom>
          <a:effectLst>
            <a:outerShdw sx="100000" sy="100000" kx="0" ky="0" algn="bl" rotWithShape="0" blurRad="101600" dist="38100" dir="5400000">
              <a:srgbClr val="000000">
                <a:alpha val="45000"/>
              </a:srgbClr>
            </a:outerShdw>
          </a:effectLst>
        </p:spPr>
      </p:pic>
      <p:sp>
        <p:nvSpPr>
          <p:cNvPr id="4" name="grafana caption"/>
          <p:cNvSpPr txBox="1"/>
          <p:nvPr/>
        </p:nvSpPr>
        <p:spPr>
          <a:xfrm>
            <a:off x="457200" y="3840480"/>
            <a:ext cx="5669280" cy="274320"/>
          </a:xfrm>
          <a:prstGeom prst="rect">
            <a:avLst/>
          </a:prstGeom>
          <a:noFill/>
          <a:ln/>
        </p:spPr>
        <p:txBody>
          <a:bodyPr wrap="square" lIns="0" tIns="0" rIns="0" bIns="0" rtlCol="0" anchor="ctr"/>
          <a:lstStyle/>
          <a:p>
            <a:pPr indent="0" marL="0">
              <a:buNone/>
            </a:pPr>
            <a:r>
              <a:rPr lang="en-US" sz="1100" i="1" dirty="0">
                <a:solidFill>
                  <a:schemeClr val="accent6"/>
                </a:solidFill>
              </a:rPr>
              <a:t>Grafana dashboard-as-code: LiftLog API (EKS)</a:t>
            </a:r>
            <a:endParaRPr lang="en-US" sz="1100" dirty="0"/>
          </a:p>
        </p:txBody>
      </p:sp>
      <p:sp>
        <p:nvSpPr>
          <p:cNvPr id="5" name="obs stat backend targets UP"/>
          <p:cNvSpPr/>
          <p:nvPr/>
        </p:nvSpPr>
        <p:spPr>
          <a:xfrm>
            <a:off x="6400800" y="1097280"/>
            <a:ext cx="2286000" cy="822960"/>
          </a:xfrm>
          <a:prstGeom prst="roundRect">
            <a:avLst>
              <a:gd name="adj" fmla="val 13333"/>
            </a:avLst>
          </a:prstGeom>
          <a:solidFill>
            <a:schemeClr val="tx2"/>
          </a:solidFill>
          <a:ln w="12700">
            <a:solidFill>
              <a:schemeClr val="tx2"/>
            </a:solidFill>
            <a:prstDash val="solid"/>
          </a:ln>
        </p:spPr>
      </p:sp>
      <p:sp>
        <p:nvSpPr>
          <p:cNvPr id="6" name="obs backend targets UP value"/>
          <p:cNvSpPr txBox="1"/>
          <p:nvPr/>
        </p:nvSpPr>
        <p:spPr>
          <a:xfrm>
            <a:off x="6583680" y="1143000"/>
            <a:ext cx="2011680" cy="457200"/>
          </a:xfrm>
          <a:prstGeom prst="rect">
            <a:avLst/>
          </a:prstGeom>
          <a:noFill/>
          <a:ln/>
        </p:spPr>
        <p:txBody>
          <a:bodyPr wrap="square" lIns="0" tIns="0" rIns="0" bIns="0" rtlCol="0" anchor="ctr"/>
          <a:lstStyle/>
          <a:p>
            <a:pPr indent="0" marL="0">
              <a:buNone/>
            </a:pPr>
            <a:r>
              <a:rPr lang="en-US" sz="2600" b="1" dirty="0">
                <a:solidFill>
                  <a:schemeClr val="accent4"/>
                </a:solidFill>
              </a:rPr>
              <a:t>2/2</a:t>
            </a:r>
            <a:endParaRPr lang="en-US" sz="2600" dirty="0"/>
          </a:p>
        </p:txBody>
      </p:sp>
      <p:sp>
        <p:nvSpPr>
          <p:cNvPr id="7" name="obs backend targets UP label"/>
          <p:cNvSpPr txBox="1"/>
          <p:nvPr/>
        </p:nvSpPr>
        <p:spPr>
          <a:xfrm>
            <a:off x="6583680" y="1572768"/>
            <a:ext cx="2011680" cy="274320"/>
          </a:xfrm>
          <a:prstGeom prst="rect">
            <a:avLst/>
          </a:prstGeom>
          <a:noFill/>
          <a:ln/>
        </p:spPr>
        <p:txBody>
          <a:bodyPr wrap="square" lIns="0" tIns="0" rIns="0" bIns="0" rtlCol="0" anchor="ctr"/>
          <a:lstStyle/>
          <a:p>
            <a:pPr indent="0" marL="0">
              <a:buNone/>
            </a:pPr>
            <a:r>
              <a:rPr lang="en-US" sz="1200" dirty="0">
                <a:solidFill>
                  <a:schemeClr val="bg2"/>
                </a:solidFill>
              </a:rPr>
              <a:t>backend targets UP</a:t>
            </a:r>
            <a:endParaRPr lang="en-US" sz="1200" dirty="0"/>
          </a:p>
        </p:txBody>
      </p:sp>
      <p:sp>
        <p:nvSpPr>
          <p:cNvPr id="8" name="obs stat panels, defined in Git"/>
          <p:cNvSpPr/>
          <p:nvPr/>
        </p:nvSpPr>
        <p:spPr>
          <a:xfrm>
            <a:off x="6400800" y="2057400"/>
            <a:ext cx="2286000" cy="822960"/>
          </a:xfrm>
          <a:prstGeom prst="roundRect">
            <a:avLst>
              <a:gd name="adj" fmla="val 13333"/>
            </a:avLst>
          </a:prstGeom>
          <a:solidFill>
            <a:schemeClr val="tx2"/>
          </a:solidFill>
          <a:ln w="12700">
            <a:solidFill>
              <a:schemeClr val="tx2"/>
            </a:solidFill>
            <a:prstDash val="solid"/>
          </a:ln>
        </p:spPr>
      </p:sp>
      <p:sp>
        <p:nvSpPr>
          <p:cNvPr id="9" name="obs panels, defined in Git value"/>
          <p:cNvSpPr txBox="1"/>
          <p:nvPr/>
        </p:nvSpPr>
        <p:spPr>
          <a:xfrm>
            <a:off x="6583680" y="2103120"/>
            <a:ext cx="2011680" cy="457200"/>
          </a:xfrm>
          <a:prstGeom prst="rect">
            <a:avLst/>
          </a:prstGeom>
          <a:noFill/>
          <a:ln/>
        </p:spPr>
        <p:txBody>
          <a:bodyPr wrap="square" lIns="0" tIns="0" rIns="0" bIns="0" rtlCol="0" anchor="ctr"/>
          <a:lstStyle/>
          <a:p>
            <a:pPr indent="0" marL="0">
              <a:buNone/>
            </a:pPr>
            <a:r>
              <a:rPr lang="en-US" sz="2600" b="1" dirty="0">
                <a:solidFill>
                  <a:schemeClr val="accent4"/>
                </a:solidFill>
              </a:rPr>
              <a:t>8</a:t>
            </a:r>
            <a:endParaRPr lang="en-US" sz="2600" dirty="0"/>
          </a:p>
        </p:txBody>
      </p:sp>
      <p:sp>
        <p:nvSpPr>
          <p:cNvPr id="10" name="obs panels, defined in Git label"/>
          <p:cNvSpPr txBox="1"/>
          <p:nvPr/>
        </p:nvSpPr>
        <p:spPr>
          <a:xfrm>
            <a:off x="6583680" y="2532888"/>
            <a:ext cx="2011680" cy="274320"/>
          </a:xfrm>
          <a:prstGeom prst="rect">
            <a:avLst/>
          </a:prstGeom>
          <a:noFill/>
          <a:ln/>
        </p:spPr>
        <p:txBody>
          <a:bodyPr wrap="square" lIns="0" tIns="0" rIns="0" bIns="0" rtlCol="0" anchor="ctr"/>
          <a:lstStyle/>
          <a:p>
            <a:pPr indent="0" marL="0">
              <a:buNone/>
            </a:pPr>
            <a:r>
              <a:rPr lang="en-US" sz="1200" dirty="0">
                <a:solidFill>
                  <a:schemeClr val="bg2"/>
                </a:solidFill>
              </a:rPr>
              <a:t>panels, defined in Git</a:t>
            </a:r>
            <a:endParaRPr lang="en-US" sz="1200" dirty="0"/>
          </a:p>
        </p:txBody>
      </p:sp>
      <p:sp>
        <p:nvSpPr>
          <p:cNvPr id="11" name="obs stat p95 API latency"/>
          <p:cNvSpPr/>
          <p:nvPr/>
        </p:nvSpPr>
        <p:spPr>
          <a:xfrm>
            <a:off x="6400800" y="3017520"/>
            <a:ext cx="2286000" cy="822960"/>
          </a:xfrm>
          <a:prstGeom prst="roundRect">
            <a:avLst>
              <a:gd name="adj" fmla="val 13333"/>
            </a:avLst>
          </a:prstGeom>
          <a:solidFill>
            <a:schemeClr val="tx2"/>
          </a:solidFill>
          <a:ln w="12700">
            <a:solidFill>
              <a:schemeClr val="tx2"/>
            </a:solidFill>
            <a:prstDash val="solid"/>
          </a:ln>
        </p:spPr>
      </p:sp>
      <p:sp>
        <p:nvSpPr>
          <p:cNvPr id="12" name="obs p95 API latency value"/>
          <p:cNvSpPr txBox="1"/>
          <p:nvPr/>
        </p:nvSpPr>
        <p:spPr>
          <a:xfrm>
            <a:off x="6583680" y="3063240"/>
            <a:ext cx="2011680" cy="457200"/>
          </a:xfrm>
          <a:prstGeom prst="rect">
            <a:avLst/>
          </a:prstGeom>
          <a:noFill/>
          <a:ln/>
        </p:spPr>
        <p:txBody>
          <a:bodyPr wrap="square" lIns="0" tIns="0" rIns="0" bIns="0" rtlCol="0" anchor="ctr"/>
          <a:lstStyle/>
          <a:p>
            <a:pPr indent="0" marL="0">
              <a:buNone/>
            </a:pPr>
            <a:r>
              <a:rPr lang="en-US" sz="2600" b="1" dirty="0">
                <a:solidFill>
                  <a:schemeClr val="accent4"/>
                </a:solidFill>
              </a:rPr>
              <a:t>≈ 95 ms</a:t>
            </a:r>
            <a:endParaRPr lang="en-US" sz="2600" dirty="0"/>
          </a:p>
        </p:txBody>
      </p:sp>
      <p:sp>
        <p:nvSpPr>
          <p:cNvPr id="13" name="obs p95 API latency label"/>
          <p:cNvSpPr txBox="1"/>
          <p:nvPr/>
        </p:nvSpPr>
        <p:spPr>
          <a:xfrm>
            <a:off x="6583680" y="3493008"/>
            <a:ext cx="2011680" cy="274320"/>
          </a:xfrm>
          <a:prstGeom prst="rect">
            <a:avLst/>
          </a:prstGeom>
          <a:noFill/>
          <a:ln/>
        </p:spPr>
        <p:txBody>
          <a:bodyPr wrap="square" lIns="0" tIns="0" rIns="0" bIns="0" rtlCol="0" anchor="ctr"/>
          <a:lstStyle/>
          <a:p>
            <a:pPr indent="0" marL="0">
              <a:buNone/>
            </a:pPr>
            <a:r>
              <a:rPr lang="en-US" sz="1200" dirty="0">
                <a:solidFill>
                  <a:schemeClr val="bg2"/>
                </a:solidFill>
              </a:rPr>
              <a:t>p95 API latency</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DevSecOps: security built into the pipeline</a:t>
            </a:r>
            <a:endParaRPr lang="en-US" sz="3000" dirty="0"/>
          </a:p>
        </p:txBody>
      </p:sp>
      <p:graphicFrame>
        <p:nvGraphicFramePr>
          <p:cNvPr id="3" name="CVE before and after chart" descr=""/>
          <p:cNvGraphicFramePr/>
          <p:nvPr/>
        </p:nvGraphicFramePr>
        <p:xfrm>
          <a:off x="457200" y="109728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4" name="Trivy gate circle"/>
          <p:cNvSpPr/>
          <p:nvPr/>
        </p:nvSpPr>
        <p:spPr>
          <a:xfrm>
            <a:off x="5029200" y="1188720"/>
            <a:ext cx="502920" cy="502920"/>
          </a:xfrm>
          <a:prstGeom prst="ellipse">
            <a:avLst/>
          </a:prstGeom>
          <a:solidFill>
            <a:schemeClr val="accent3"/>
          </a:solidFill>
          <a:ln w="12700">
            <a:solidFill>
              <a:schemeClr val="accent3"/>
            </a:solidFill>
            <a:prstDash val="solid"/>
          </a:ln>
        </p:spPr>
      </p:sp>
      <p:pic>
        <p:nvPicPr>
          <p:cNvPr id="5" name="Trivy gate icon" descr="Trivy gate">    </p:cNvPr>
          <p:cNvPicPr>
            <a:picLocks noChangeAspect="1"/>
          </p:cNvPicPr>
          <p:nvPr/>
        </p:nvPicPr>
        <p:blipFill>
          <a:blip r:embed="rId2"/>
          <a:stretch>
            <a:fillRect/>
          </a:stretch>
        </p:blipFill>
        <p:spPr>
          <a:xfrm>
            <a:off x="5154930" y="1314450"/>
            <a:ext cx="251460" cy="251460"/>
          </a:xfrm>
          <a:prstGeom prst="rect">
            <a:avLst/>
          </a:prstGeom>
        </p:spPr>
      </p:pic>
      <p:sp>
        <p:nvSpPr>
          <p:cNvPr id="6" name="sec Trivy gate title"/>
          <p:cNvSpPr txBox="1"/>
          <p:nvPr/>
        </p:nvSpPr>
        <p:spPr>
          <a:xfrm>
            <a:off x="5715000" y="1161288"/>
            <a:ext cx="2971800" cy="274320"/>
          </a:xfrm>
          <a:prstGeom prst="rect">
            <a:avLst/>
          </a:prstGeom>
          <a:noFill/>
          <a:ln/>
        </p:spPr>
        <p:txBody>
          <a:bodyPr wrap="square" lIns="0" tIns="0" rIns="0" bIns="0" rtlCol="0" anchor="ctr"/>
          <a:lstStyle/>
          <a:p>
            <a:pPr indent="0" marL="0">
              <a:buNone/>
            </a:pPr>
            <a:r>
              <a:rPr lang="en-US" sz="1500" b="1" dirty="0">
                <a:solidFill>
                  <a:schemeClr val="bg1"/>
                </a:solidFill>
              </a:rPr>
              <a:t>Trivy gate</a:t>
            </a:r>
            <a:endParaRPr lang="en-US" sz="1500" dirty="0"/>
          </a:p>
        </p:txBody>
      </p:sp>
      <p:sp>
        <p:nvSpPr>
          <p:cNvPr id="7" name="sec Trivy gate desc"/>
          <p:cNvSpPr txBox="1"/>
          <p:nvPr/>
        </p:nvSpPr>
        <p:spPr>
          <a:xfrm>
            <a:off x="5715000" y="1444752"/>
            <a:ext cx="2971800" cy="274320"/>
          </a:xfrm>
          <a:prstGeom prst="rect">
            <a:avLst/>
          </a:prstGeom>
          <a:noFill/>
          <a:ln/>
        </p:spPr>
        <p:txBody>
          <a:bodyPr wrap="square" lIns="0" tIns="0" rIns="0" bIns="0" rtlCol="0" anchor="ctr"/>
          <a:lstStyle/>
          <a:p>
            <a:pPr indent="0" marL="0">
              <a:buNone/>
            </a:pPr>
            <a:r>
              <a:rPr lang="en-US" sz="1200" dirty="0">
                <a:solidFill>
                  <a:schemeClr val="bg2"/>
                </a:solidFill>
              </a:rPr>
              <a:t>fixable HIGH/CRITICAL fails the build</a:t>
            </a:r>
            <a:endParaRPr lang="en-US" sz="1200" dirty="0"/>
          </a:p>
        </p:txBody>
      </p:sp>
      <p:sp>
        <p:nvSpPr>
          <p:cNvPr id="8" name="Non-root containers circle"/>
          <p:cNvSpPr/>
          <p:nvPr/>
        </p:nvSpPr>
        <p:spPr>
          <a:xfrm>
            <a:off x="5029200" y="2011680"/>
            <a:ext cx="502920" cy="502920"/>
          </a:xfrm>
          <a:prstGeom prst="ellipse">
            <a:avLst/>
          </a:prstGeom>
          <a:solidFill>
            <a:schemeClr val="accent3"/>
          </a:solidFill>
          <a:ln w="12700">
            <a:solidFill>
              <a:schemeClr val="accent3"/>
            </a:solidFill>
            <a:prstDash val="solid"/>
          </a:ln>
        </p:spPr>
      </p:sp>
      <p:pic>
        <p:nvPicPr>
          <p:cNvPr id="9" name="Non-root containers icon" descr="Non-root containers">    </p:cNvPr>
          <p:cNvPicPr>
            <a:picLocks noChangeAspect="1"/>
          </p:cNvPicPr>
          <p:nvPr/>
        </p:nvPicPr>
        <p:blipFill>
          <a:blip r:embed="rId3"/>
          <a:stretch>
            <a:fillRect/>
          </a:stretch>
        </p:blipFill>
        <p:spPr>
          <a:xfrm>
            <a:off x="5154930" y="2137410"/>
            <a:ext cx="251460" cy="251460"/>
          </a:xfrm>
          <a:prstGeom prst="rect">
            <a:avLst/>
          </a:prstGeom>
        </p:spPr>
      </p:pic>
      <p:sp>
        <p:nvSpPr>
          <p:cNvPr id="10" name="sec Non-root containers title"/>
          <p:cNvSpPr txBox="1"/>
          <p:nvPr/>
        </p:nvSpPr>
        <p:spPr>
          <a:xfrm>
            <a:off x="5715000" y="1984248"/>
            <a:ext cx="2971800" cy="274320"/>
          </a:xfrm>
          <a:prstGeom prst="rect">
            <a:avLst/>
          </a:prstGeom>
          <a:noFill/>
          <a:ln/>
        </p:spPr>
        <p:txBody>
          <a:bodyPr wrap="square" lIns="0" tIns="0" rIns="0" bIns="0" rtlCol="0" anchor="ctr"/>
          <a:lstStyle/>
          <a:p>
            <a:pPr indent="0" marL="0">
              <a:buNone/>
            </a:pPr>
            <a:r>
              <a:rPr lang="en-US" sz="1500" b="1" dirty="0">
                <a:solidFill>
                  <a:schemeClr val="bg1"/>
                </a:solidFill>
              </a:rPr>
              <a:t>Non-root containers</a:t>
            </a:r>
            <a:endParaRPr lang="en-US" sz="1500" dirty="0"/>
          </a:p>
        </p:txBody>
      </p:sp>
      <p:sp>
        <p:nvSpPr>
          <p:cNvPr id="11" name="sec Non-root containers desc"/>
          <p:cNvSpPr txBox="1"/>
          <p:nvPr/>
        </p:nvSpPr>
        <p:spPr>
          <a:xfrm>
            <a:off x="5715000" y="2267712"/>
            <a:ext cx="2971800" cy="274320"/>
          </a:xfrm>
          <a:prstGeom prst="rect">
            <a:avLst/>
          </a:prstGeom>
          <a:noFill/>
          <a:ln/>
        </p:spPr>
        <p:txBody>
          <a:bodyPr wrap="square" lIns="0" tIns="0" rIns="0" bIns="0" rtlCol="0" anchor="ctr"/>
          <a:lstStyle/>
          <a:p>
            <a:pPr indent="0" marL="0">
              <a:buNone/>
            </a:pPr>
            <a:r>
              <a:rPr lang="en-US" sz="1200" dirty="0">
                <a:solidFill>
                  <a:schemeClr val="bg2"/>
                </a:solidFill>
              </a:rPr>
              <a:t>backend uid 10001, frontend uid 101</a:t>
            </a:r>
            <a:endParaRPr lang="en-US" sz="1200" dirty="0"/>
          </a:p>
        </p:txBody>
      </p:sp>
      <p:sp>
        <p:nvSpPr>
          <p:cNvPr id="12" name="No long-lived keys circle"/>
          <p:cNvSpPr/>
          <p:nvPr/>
        </p:nvSpPr>
        <p:spPr>
          <a:xfrm>
            <a:off x="5029200" y="2834640"/>
            <a:ext cx="502920" cy="502920"/>
          </a:xfrm>
          <a:prstGeom prst="ellipse">
            <a:avLst/>
          </a:prstGeom>
          <a:solidFill>
            <a:schemeClr val="accent3"/>
          </a:solidFill>
          <a:ln w="12700">
            <a:solidFill>
              <a:schemeClr val="accent3"/>
            </a:solidFill>
            <a:prstDash val="solid"/>
          </a:ln>
        </p:spPr>
      </p:sp>
      <p:pic>
        <p:nvPicPr>
          <p:cNvPr id="13" name="No long-lived keys icon" descr="No long-lived keys">    </p:cNvPr>
          <p:cNvPicPr>
            <a:picLocks noChangeAspect="1"/>
          </p:cNvPicPr>
          <p:nvPr/>
        </p:nvPicPr>
        <p:blipFill>
          <a:blip r:embed="rId4"/>
          <a:stretch>
            <a:fillRect/>
          </a:stretch>
        </p:blipFill>
        <p:spPr>
          <a:xfrm>
            <a:off x="5154930" y="2960370"/>
            <a:ext cx="251460" cy="251460"/>
          </a:xfrm>
          <a:prstGeom prst="rect">
            <a:avLst/>
          </a:prstGeom>
        </p:spPr>
      </p:pic>
      <p:sp>
        <p:nvSpPr>
          <p:cNvPr id="14" name="sec No long-lived keys title"/>
          <p:cNvSpPr txBox="1"/>
          <p:nvPr/>
        </p:nvSpPr>
        <p:spPr>
          <a:xfrm>
            <a:off x="5715000" y="2807208"/>
            <a:ext cx="2971800" cy="274320"/>
          </a:xfrm>
          <a:prstGeom prst="rect">
            <a:avLst/>
          </a:prstGeom>
          <a:noFill/>
          <a:ln/>
        </p:spPr>
        <p:txBody>
          <a:bodyPr wrap="square" lIns="0" tIns="0" rIns="0" bIns="0" rtlCol="0" anchor="ctr"/>
          <a:lstStyle/>
          <a:p>
            <a:pPr indent="0" marL="0">
              <a:buNone/>
            </a:pPr>
            <a:r>
              <a:rPr lang="en-US" sz="1500" b="1" dirty="0">
                <a:solidFill>
                  <a:schemeClr val="bg1"/>
                </a:solidFill>
              </a:rPr>
              <a:t>No long-lived keys</a:t>
            </a:r>
            <a:endParaRPr lang="en-US" sz="1500" dirty="0"/>
          </a:p>
        </p:txBody>
      </p:sp>
      <p:sp>
        <p:nvSpPr>
          <p:cNvPr id="15" name="sec No long-lived keys desc"/>
          <p:cNvSpPr txBox="1"/>
          <p:nvPr/>
        </p:nvSpPr>
        <p:spPr>
          <a:xfrm>
            <a:off x="5715000" y="3090672"/>
            <a:ext cx="2971800" cy="274320"/>
          </a:xfrm>
          <a:prstGeom prst="rect">
            <a:avLst/>
          </a:prstGeom>
          <a:noFill/>
          <a:ln/>
        </p:spPr>
        <p:txBody>
          <a:bodyPr wrap="square" lIns="0" tIns="0" rIns="0" bIns="0" rtlCol="0" anchor="ctr"/>
          <a:lstStyle/>
          <a:p>
            <a:pPr indent="0" marL="0">
              <a:buNone/>
            </a:pPr>
            <a:r>
              <a:rPr lang="en-US" sz="1200" dirty="0">
                <a:solidFill>
                  <a:schemeClr val="bg2"/>
                </a:solidFill>
              </a:rPr>
              <a:t>aws login, GITHUB_TOKEN, Pod Identity</a:t>
            </a:r>
            <a:endParaRPr lang="en-US" sz="1200" dirty="0"/>
          </a:p>
        </p:txBody>
      </p:sp>
      <p:sp>
        <p:nvSpPr>
          <p:cNvPr id="16" name="Fixed, not ignored circle"/>
          <p:cNvSpPr/>
          <p:nvPr/>
        </p:nvSpPr>
        <p:spPr>
          <a:xfrm>
            <a:off x="5029200" y="3657600"/>
            <a:ext cx="502920" cy="502920"/>
          </a:xfrm>
          <a:prstGeom prst="ellipse">
            <a:avLst/>
          </a:prstGeom>
          <a:solidFill>
            <a:schemeClr val="accent3"/>
          </a:solidFill>
          <a:ln w="12700">
            <a:solidFill>
              <a:schemeClr val="accent3"/>
            </a:solidFill>
            <a:prstDash val="solid"/>
          </a:ln>
        </p:spPr>
      </p:sp>
      <p:pic>
        <p:nvPicPr>
          <p:cNvPr id="17" name="Fixed, not ignored icon" descr="Fixed, not ignored">    </p:cNvPr>
          <p:cNvPicPr>
            <a:picLocks noChangeAspect="1"/>
          </p:cNvPicPr>
          <p:nvPr/>
        </p:nvPicPr>
        <p:blipFill>
          <a:blip r:embed="rId5"/>
          <a:stretch>
            <a:fillRect/>
          </a:stretch>
        </p:blipFill>
        <p:spPr>
          <a:xfrm>
            <a:off x="5154930" y="3783330"/>
            <a:ext cx="251460" cy="251460"/>
          </a:xfrm>
          <a:prstGeom prst="rect">
            <a:avLst/>
          </a:prstGeom>
        </p:spPr>
      </p:pic>
      <p:sp>
        <p:nvSpPr>
          <p:cNvPr id="18" name="sec Fixed, not ignored title"/>
          <p:cNvSpPr txBox="1"/>
          <p:nvPr/>
        </p:nvSpPr>
        <p:spPr>
          <a:xfrm>
            <a:off x="5715000" y="3630168"/>
            <a:ext cx="2971800" cy="274320"/>
          </a:xfrm>
          <a:prstGeom prst="rect">
            <a:avLst/>
          </a:prstGeom>
          <a:noFill/>
          <a:ln/>
        </p:spPr>
        <p:txBody>
          <a:bodyPr wrap="square" lIns="0" tIns="0" rIns="0" bIns="0" rtlCol="0" anchor="ctr"/>
          <a:lstStyle/>
          <a:p>
            <a:pPr indent="0" marL="0">
              <a:buNone/>
            </a:pPr>
            <a:r>
              <a:rPr lang="en-US" sz="1500" b="1" dirty="0">
                <a:solidFill>
                  <a:schemeClr val="bg1"/>
                </a:solidFill>
              </a:rPr>
              <a:t>Fixed, not ignored</a:t>
            </a:r>
            <a:endParaRPr lang="en-US" sz="1500" dirty="0"/>
          </a:p>
        </p:txBody>
      </p:sp>
      <p:sp>
        <p:nvSpPr>
          <p:cNvPr id="19" name="sec Fixed, not ignored desc"/>
          <p:cNvSpPr txBox="1"/>
          <p:nvPr/>
        </p:nvSpPr>
        <p:spPr>
          <a:xfrm>
            <a:off x="5715000" y="3913632"/>
            <a:ext cx="2971800" cy="274320"/>
          </a:xfrm>
          <a:prstGeom prst="rect">
            <a:avLst/>
          </a:prstGeom>
          <a:noFill/>
          <a:ln/>
        </p:spPr>
        <p:txBody>
          <a:bodyPr wrap="square" lIns="0" tIns="0" rIns="0" bIns="0" rtlCol="0" anchor="ctr"/>
          <a:lstStyle/>
          <a:p>
            <a:pPr indent="0" marL="0">
              <a:buNone/>
            </a:pPr>
            <a:r>
              <a:rPr lang="en-US" sz="1200" dirty="0">
                <a:solidFill>
                  <a:schemeClr val="bg2"/>
                </a:solidFill>
              </a:rPr>
              <a:t>FastAPI/starlette upgrade, new nginx base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Key learnings</a:t>
            </a:r>
            <a:endParaRPr lang="en-US" sz="3000" dirty="0"/>
          </a:p>
        </p:txBody>
      </p:sp>
      <p:sp>
        <p:nvSpPr>
          <p:cNvPr id="3" name="learning card Respect the guardrails"/>
          <p:cNvSpPr/>
          <p:nvPr/>
        </p:nvSpPr>
        <p:spPr>
          <a:xfrm>
            <a:off x="457200" y="1097280"/>
            <a:ext cx="2624328" cy="1600200"/>
          </a:xfrm>
          <a:prstGeom prst="roundRect">
            <a:avLst>
              <a:gd name="adj" fmla="val 6857"/>
            </a:avLst>
          </a:prstGeom>
          <a:solidFill>
            <a:schemeClr val="tx2"/>
          </a:solidFill>
          <a:ln w="12700">
            <a:solidFill>
              <a:schemeClr val="tx2"/>
            </a:solidFill>
            <a:prstDash val="solid"/>
          </a:ln>
        </p:spPr>
      </p:sp>
      <p:sp>
        <p:nvSpPr>
          <p:cNvPr id="4" name="Respect the guardrails circle"/>
          <p:cNvSpPr/>
          <p:nvPr/>
        </p:nvSpPr>
        <p:spPr>
          <a:xfrm>
            <a:off x="640080" y="1280160"/>
            <a:ext cx="457200" cy="457200"/>
          </a:xfrm>
          <a:prstGeom prst="ellipse">
            <a:avLst/>
          </a:prstGeom>
          <a:solidFill>
            <a:schemeClr val="accent1"/>
          </a:solidFill>
          <a:ln w="12700">
            <a:solidFill>
              <a:schemeClr val="accent1"/>
            </a:solidFill>
            <a:prstDash val="solid"/>
          </a:ln>
        </p:spPr>
      </p:sp>
      <p:pic>
        <p:nvPicPr>
          <p:cNvPr id="5" name="Respect the guardrails icon" descr="Respect the guardrails">    </p:cNvPr>
          <p:cNvPicPr>
            <a:picLocks noChangeAspect="1"/>
          </p:cNvPicPr>
          <p:nvPr/>
        </p:nvPicPr>
        <p:blipFill>
          <a:blip r:embed="rId1"/>
          <a:stretch>
            <a:fillRect/>
          </a:stretch>
        </p:blipFill>
        <p:spPr>
          <a:xfrm>
            <a:off x="754380" y="1394460"/>
            <a:ext cx="228600" cy="228600"/>
          </a:xfrm>
          <a:prstGeom prst="rect">
            <a:avLst/>
          </a:prstGeom>
        </p:spPr>
      </p:pic>
      <p:sp>
        <p:nvSpPr>
          <p:cNvPr id="6" name="learning Respect the guardrails title"/>
          <p:cNvSpPr txBox="1"/>
          <p:nvPr/>
        </p:nvSpPr>
        <p:spPr>
          <a:xfrm>
            <a:off x="1207008" y="1280160"/>
            <a:ext cx="1783080" cy="457200"/>
          </a:xfrm>
          <a:prstGeom prst="rect">
            <a:avLst/>
          </a:prstGeom>
          <a:noFill/>
          <a:ln/>
        </p:spPr>
        <p:txBody>
          <a:bodyPr wrap="square" lIns="0" tIns="0" rIns="0" bIns="0" rtlCol="0" anchor="ctr"/>
          <a:lstStyle/>
          <a:p>
            <a:pPr indent="0" marL="0">
              <a:buNone/>
            </a:pPr>
            <a:r>
              <a:rPr lang="en-US" sz="1400" b="1" dirty="0">
                <a:solidFill>
                  <a:schemeClr val="bg1"/>
                </a:solidFill>
              </a:rPr>
              <a:t>Respect the guardrails</a:t>
            </a:r>
            <a:endParaRPr lang="en-US" sz="1400" dirty="0"/>
          </a:p>
        </p:txBody>
      </p:sp>
      <p:sp>
        <p:nvSpPr>
          <p:cNvPr id="7" name="learning Respect the guardrails desc"/>
          <p:cNvSpPr txBox="1"/>
          <p:nvPr/>
        </p:nvSpPr>
        <p:spPr>
          <a:xfrm>
            <a:off x="640080" y="1874520"/>
            <a:ext cx="2286000" cy="731520"/>
          </a:xfrm>
          <a:prstGeom prst="rect">
            <a:avLst/>
          </a:prstGeom>
          <a:noFill/>
          <a:ln/>
        </p:spPr>
        <p:txBody>
          <a:bodyPr wrap="square" lIns="0" tIns="0" rIns="0" bIns="0" rtlCol="0" anchor="ctr"/>
          <a:lstStyle/>
          <a:p>
            <a:pPr indent="0" marL="0">
              <a:buNone/>
            </a:pPr>
            <a:r>
              <a:rPr lang="en-US" sz="1200" dirty="0">
                <a:solidFill>
                  <a:schemeClr val="bg2"/>
                </a:solidFill>
              </a:rPr>
              <a:t>An SCP blocked the IAM OIDC provider, so I moved to EKS Pod Identity.</a:t>
            </a:r>
            <a:endParaRPr lang="en-US" sz="1200" dirty="0"/>
          </a:p>
        </p:txBody>
      </p:sp>
      <p:sp>
        <p:nvSpPr>
          <p:cNvPr id="8" name="learning card Versions cost money"/>
          <p:cNvSpPr/>
          <p:nvPr/>
        </p:nvSpPr>
        <p:spPr>
          <a:xfrm>
            <a:off x="3264408" y="1097280"/>
            <a:ext cx="2624328" cy="1600200"/>
          </a:xfrm>
          <a:prstGeom prst="roundRect">
            <a:avLst>
              <a:gd name="adj" fmla="val 6857"/>
            </a:avLst>
          </a:prstGeom>
          <a:solidFill>
            <a:schemeClr val="tx2"/>
          </a:solidFill>
          <a:ln w="12700">
            <a:solidFill>
              <a:schemeClr val="tx2"/>
            </a:solidFill>
            <a:prstDash val="solid"/>
          </a:ln>
        </p:spPr>
      </p:sp>
      <p:sp>
        <p:nvSpPr>
          <p:cNvPr id="9" name="Versions cost money circle"/>
          <p:cNvSpPr/>
          <p:nvPr/>
        </p:nvSpPr>
        <p:spPr>
          <a:xfrm>
            <a:off x="3447288" y="1280160"/>
            <a:ext cx="457200" cy="457200"/>
          </a:xfrm>
          <a:prstGeom prst="ellipse">
            <a:avLst/>
          </a:prstGeom>
          <a:solidFill>
            <a:schemeClr val="accent2"/>
          </a:solidFill>
          <a:ln w="12700">
            <a:solidFill>
              <a:schemeClr val="accent2"/>
            </a:solidFill>
            <a:prstDash val="solid"/>
          </a:ln>
        </p:spPr>
      </p:sp>
      <p:pic>
        <p:nvPicPr>
          <p:cNvPr id="10" name="Versions cost money icon" descr="Versions cost money">    </p:cNvPr>
          <p:cNvPicPr>
            <a:picLocks noChangeAspect="1"/>
          </p:cNvPicPr>
          <p:nvPr/>
        </p:nvPicPr>
        <p:blipFill>
          <a:blip r:embed="rId2"/>
          <a:stretch>
            <a:fillRect/>
          </a:stretch>
        </p:blipFill>
        <p:spPr>
          <a:xfrm>
            <a:off x="3561588" y="1394460"/>
            <a:ext cx="228600" cy="228600"/>
          </a:xfrm>
          <a:prstGeom prst="rect">
            <a:avLst/>
          </a:prstGeom>
        </p:spPr>
      </p:pic>
      <p:sp>
        <p:nvSpPr>
          <p:cNvPr id="11" name="learning Versions cost money title"/>
          <p:cNvSpPr txBox="1"/>
          <p:nvPr/>
        </p:nvSpPr>
        <p:spPr>
          <a:xfrm>
            <a:off x="4014216" y="1280160"/>
            <a:ext cx="1783080" cy="457200"/>
          </a:xfrm>
          <a:prstGeom prst="rect">
            <a:avLst/>
          </a:prstGeom>
          <a:noFill/>
          <a:ln/>
        </p:spPr>
        <p:txBody>
          <a:bodyPr wrap="square" lIns="0" tIns="0" rIns="0" bIns="0" rtlCol="0" anchor="ctr"/>
          <a:lstStyle/>
          <a:p>
            <a:pPr indent="0" marL="0">
              <a:buNone/>
            </a:pPr>
            <a:r>
              <a:rPr lang="en-US" sz="1400" b="1" dirty="0">
                <a:solidFill>
                  <a:schemeClr val="bg1"/>
                </a:solidFill>
              </a:rPr>
              <a:t>Versions cost money</a:t>
            </a:r>
            <a:endParaRPr lang="en-US" sz="1400" dirty="0"/>
          </a:p>
        </p:txBody>
      </p:sp>
      <p:sp>
        <p:nvSpPr>
          <p:cNvPr id="12" name="learning Versions cost money desc"/>
          <p:cNvSpPr txBox="1"/>
          <p:nvPr/>
        </p:nvSpPr>
        <p:spPr>
          <a:xfrm>
            <a:off x="3447288" y="1874520"/>
            <a:ext cx="2286000" cy="731520"/>
          </a:xfrm>
          <a:prstGeom prst="rect">
            <a:avLst/>
          </a:prstGeom>
          <a:noFill/>
          <a:ln/>
        </p:spPr>
        <p:txBody>
          <a:bodyPr wrap="square" lIns="0" tIns="0" rIns="0" bIns="0" rtlCol="0" anchor="ctr"/>
          <a:lstStyle/>
          <a:p>
            <a:pPr indent="0" marL="0">
              <a:buNone/>
            </a:pPr>
            <a:r>
              <a:rPr lang="en-US" sz="1200" dirty="0">
                <a:solidFill>
                  <a:schemeClr val="bg2"/>
                </a:solidFill>
              </a:rPr>
              <a:t>K8s 1.31 was in extended support at 6× the price; 1.36 is standard.</a:t>
            </a:r>
            <a:endParaRPr lang="en-US" sz="1200" dirty="0"/>
          </a:p>
        </p:txBody>
      </p:sp>
      <p:sp>
        <p:nvSpPr>
          <p:cNvPr id="13" name="learning card Storage has sharp edges"/>
          <p:cNvSpPr/>
          <p:nvPr/>
        </p:nvSpPr>
        <p:spPr>
          <a:xfrm>
            <a:off x="6071616" y="1097280"/>
            <a:ext cx="2624328" cy="1600200"/>
          </a:xfrm>
          <a:prstGeom prst="roundRect">
            <a:avLst>
              <a:gd name="adj" fmla="val 6857"/>
            </a:avLst>
          </a:prstGeom>
          <a:solidFill>
            <a:schemeClr val="tx2"/>
          </a:solidFill>
          <a:ln w="12700">
            <a:solidFill>
              <a:schemeClr val="tx2"/>
            </a:solidFill>
            <a:prstDash val="solid"/>
          </a:ln>
        </p:spPr>
      </p:sp>
      <p:sp>
        <p:nvSpPr>
          <p:cNvPr id="14" name="Storage has sharp edges circle"/>
          <p:cNvSpPr/>
          <p:nvPr/>
        </p:nvSpPr>
        <p:spPr>
          <a:xfrm>
            <a:off x="6254496" y="1280160"/>
            <a:ext cx="457200" cy="457200"/>
          </a:xfrm>
          <a:prstGeom prst="ellipse">
            <a:avLst/>
          </a:prstGeom>
          <a:solidFill>
            <a:schemeClr val="accent1"/>
          </a:solidFill>
          <a:ln w="12700">
            <a:solidFill>
              <a:schemeClr val="accent1"/>
            </a:solidFill>
            <a:prstDash val="solid"/>
          </a:ln>
        </p:spPr>
      </p:sp>
      <p:pic>
        <p:nvPicPr>
          <p:cNvPr id="15" name="Storage has sharp edges icon" descr="Storage has sharp edges">    </p:cNvPr>
          <p:cNvPicPr>
            <a:picLocks noChangeAspect="1"/>
          </p:cNvPicPr>
          <p:nvPr/>
        </p:nvPicPr>
        <p:blipFill>
          <a:blip r:embed="rId3"/>
          <a:stretch>
            <a:fillRect/>
          </a:stretch>
        </p:blipFill>
        <p:spPr>
          <a:xfrm>
            <a:off x="6368796" y="1394460"/>
            <a:ext cx="228600" cy="228600"/>
          </a:xfrm>
          <a:prstGeom prst="rect">
            <a:avLst/>
          </a:prstGeom>
        </p:spPr>
      </p:pic>
      <p:sp>
        <p:nvSpPr>
          <p:cNvPr id="16" name="learning Storage has sharp edges title"/>
          <p:cNvSpPr txBox="1"/>
          <p:nvPr/>
        </p:nvSpPr>
        <p:spPr>
          <a:xfrm>
            <a:off x="6821424" y="1280160"/>
            <a:ext cx="1783080" cy="457200"/>
          </a:xfrm>
          <a:prstGeom prst="rect">
            <a:avLst/>
          </a:prstGeom>
          <a:noFill/>
          <a:ln/>
        </p:spPr>
        <p:txBody>
          <a:bodyPr wrap="square" lIns="0" tIns="0" rIns="0" bIns="0" rtlCol="0" anchor="ctr"/>
          <a:lstStyle/>
          <a:p>
            <a:pPr indent="0" marL="0">
              <a:buNone/>
            </a:pPr>
            <a:r>
              <a:rPr lang="en-US" sz="1400" b="1" dirty="0">
                <a:solidFill>
                  <a:schemeClr val="bg1"/>
                </a:solidFill>
              </a:rPr>
              <a:t>Storage has sharp edges</a:t>
            </a:r>
            <a:endParaRPr lang="en-US" sz="1400" dirty="0"/>
          </a:p>
        </p:txBody>
      </p:sp>
      <p:sp>
        <p:nvSpPr>
          <p:cNvPr id="17" name="learning Storage has sharp edges desc"/>
          <p:cNvSpPr txBox="1"/>
          <p:nvPr/>
        </p:nvSpPr>
        <p:spPr>
          <a:xfrm>
            <a:off x="6254496" y="1874520"/>
            <a:ext cx="2286000" cy="731520"/>
          </a:xfrm>
          <a:prstGeom prst="rect">
            <a:avLst/>
          </a:prstGeom>
          <a:noFill/>
          <a:ln/>
        </p:spPr>
        <p:txBody>
          <a:bodyPr wrap="square" lIns="0" tIns="0" rIns="0" bIns="0" rtlCol="0" anchor="ctr"/>
          <a:lstStyle/>
          <a:p>
            <a:pPr indent="0" marL="0">
              <a:buNone/>
            </a:pPr>
            <a:r>
              <a:rPr lang="en-US" sz="1200" dirty="0">
                <a:solidFill>
                  <a:schemeClr val="bg2"/>
                </a:solidFill>
              </a:rPr>
              <a:t>EBS lost+found broke initdb; PGDATA moved to a subdirectory.</a:t>
            </a:r>
            <a:endParaRPr lang="en-US" sz="1200" dirty="0"/>
          </a:p>
        </p:txBody>
      </p:sp>
      <p:sp>
        <p:nvSpPr>
          <p:cNvPr id="18" name="learning card No creds in CI"/>
          <p:cNvSpPr/>
          <p:nvPr/>
        </p:nvSpPr>
        <p:spPr>
          <a:xfrm>
            <a:off x="457200" y="2880360"/>
            <a:ext cx="2624328" cy="1600200"/>
          </a:xfrm>
          <a:prstGeom prst="roundRect">
            <a:avLst>
              <a:gd name="adj" fmla="val 6857"/>
            </a:avLst>
          </a:prstGeom>
          <a:solidFill>
            <a:schemeClr val="tx2"/>
          </a:solidFill>
          <a:ln w="12700">
            <a:solidFill>
              <a:schemeClr val="tx2"/>
            </a:solidFill>
            <a:prstDash val="solid"/>
          </a:ln>
        </p:spPr>
      </p:sp>
      <p:sp>
        <p:nvSpPr>
          <p:cNvPr id="19" name="No creds in CI circle"/>
          <p:cNvSpPr/>
          <p:nvPr/>
        </p:nvSpPr>
        <p:spPr>
          <a:xfrm>
            <a:off x="640080" y="3063240"/>
            <a:ext cx="457200" cy="457200"/>
          </a:xfrm>
          <a:prstGeom prst="ellipse">
            <a:avLst/>
          </a:prstGeom>
          <a:solidFill>
            <a:schemeClr val="accent2"/>
          </a:solidFill>
          <a:ln w="12700">
            <a:solidFill>
              <a:schemeClr val="accent2"/>
            </a:solidFill>
            <a:prstDash val="solid"/>
          </a:ln>
        </p:spPr>
      </p:sp>
      <p:pic>
        <p:nvPicPr>
          <p:cNvPr id="20" name="No creds in CI icon" descr="No creds in CI">    </p:cNvPr>
          <p:cNvPicPr>
            <a:picLocks noChangeAspect="1"/>
          </p:cNvPicPr>
          <p:nvPr/>
        </p:nvPicPr>
        <p:blipFill>
          <a:blip r:embed="rId4"/>
          <a:stretch>
            <a:fillRect/>
          </a:stretch>
        </p:blipFill>
        <p:spPr>
          <a:xfrm>
            <a:off x="754380" y="3177540"/>
            <a:ext cx="228600" cy="228600"/>
          </a:xfrm>
          <a:prstGeom prst="rect">
            <a:avLst/>
          </a:prstGeom>
        </p:spPr>
      </p:pic>
      <p:sp>
        <p:nvSpPr>
          <p:cNvPr id="21" name="learning No creds in CI title"/>
          <p:cNvSpPr txBox="1"/>
          <p:nvPr/>
        </p:nvSpPr>
        <p:spPr>
          <a:xfrm>
            <a:off x="1207008" y="3063240"/>
            <a:ext cx="1783080" cy="457200"/>
          </a:xfrm>
          <a:prstGeom prst="rect">
            <a:avLst/>
          </a:prstGeom>
          <a:noFill/>
          <a:ln/>
        </p:spPr>
        <p:txBody>
          <a:bodyPr wrap="square" lIns="0" tIns="0" rIns="0" bIns="0" rtlCol="0" anchor="ctr"/>
          <a:lstStyle/>
          <a:p>
            <a:pPr indent="0" marL="0">
              <a:buNone/>
            </a:pPr>
            <a:r>
              <a:rPr lang="en-US" sz="1400" b="1" dirty="0">
                <a:solidFill>
                  <a:schemeClr val="bg1"/>
                </a:solidFill>
              </a:rPr>
              <a:t>No creds in CI</a:t>
            </a:r>
            <a:endParaRPr lang="en-US" sz="1400" dirty="0"/>
          </a:p>
        </p:txBody>
      </p:sp>
      <p:sp>
        <p:nvSpPr>
          <p:cNvPr id="22" name="learning No creds in CI desc"/>
          <p:cNvSpPr txBox="1"/>
          <p:nvPr/>
        </p:nvSpPr>
        <p:spPr>
          <a:xfrm>
            <a:off x="640080" y="3657600"/>
            <a:ext cx="2286000" cy="731520"/>
          </a:xfrm>
          <a:prstGeom prst="rect">
            <a:avLst/>
          </a:prstGeom>
          <a:noFill/>
          <a:ln/>
        </p:spPr>
        <p:txBody>
          <a:bodyPr wrap="square" lIns="0" tIns="0" rIns="0" bIns="0" rtlCol="0" anchor="ctr"/>
          <a:lstStyle/>
          <a:p>
            <a:pPr indent="0" marL="0">
              <a:buNone/>
            </a:pPr>
            <a:r>
              <a:rPr lang="en-US" sz="1200" dirty="0">
                <a:solidFill>
                  <a:schemeClr val="bg2"/>
                </a:solidFill>
              </a:rPr>
              <a:t>CI writes the image SHA to Git; Argo CD pulls it.</a:t>
            </a:r>
            <a:endParaRPr lang="en-US" sz="1200" dirty="0"/>
          </a:p>
        </p:txBody>
      </p:sp>
      <p:sp>
        <p:nvSpPr>
          <p:cNvPr id="23" name="learning card Fix, don't ignore"/>
          <p:cNvSpPr/>
          <p:nvPr/>
        </p:nvSpPr>
        <p:spPr>
          <a:xfrm>
            <a:off x="3264408" y="2880360"/>
            <a:ext cx="2624328" cy="1600200"/>
          </a:xfrm>
          <a:prstGeom prst="roundRect">
            <a:avLst>
              <a:gd name="adj" fmla="val 6857"/>
            </a:avLst>
          </a:prstGeom>
          <a:solidFill>
            <a:schemeClr val="tx2"/>
          </a:solidFill>
          <a:ln w="12700">
            <a:solidFill>
              <a:schemeClr val="tx2"/>
            </a:solidFill>
            <a:prstDash val="solid"/>
          </a:ln>
        </p:spPr>
      </p:sp>
      <p:sp>
        <p:nvSpPr>
          <p:cNvPr id="24" name="Fix, don't ignore circle"/>
          <p:cNvSpPr/>
          <p:nvPr/>
        </p:nvSpPr>
        <p:spPr>
          <a:xfrm>
            <a:off x="3447288" y="3063240"/>
            <a:ext cx="457200" cy="457200"/>
          </a:xfrm>
          <a:prstGeom prst="ellipse">
            <a:avLst/>
          </a:prstGeom>
          <a:solidFill>
            <a:schemeClr val="accent1"/>
          </a:solidFill>
          <a:ln w="12700">
            <a:solidFill>
              <a:schemeClr val="accent1"/>
            </a:solidFill>
            <a:prstDash val="solid"/>
          </a:ln>
        </p:spPr>
      </p:sp>
      <p:pic>
        <p:nvPicPr>
          <p:cNvPr id="25" name="Fix, don't ignore icon" descr="Fix, don't ignore">    </p:cNvPr>
          <p:cNvPicPr>
            <a:picLocks noChangeAspect="1"/>
          </p:cNvPicPr>
          <p:nvPr/>
        </p:nvPicPr>
        <p:blipFill>
          <a:blip r:embed="rId5"/>
          <a:stretch>
            <a:fillRect/>
          </a:stretch>
        </p:blipFill>
        <p:spPr>
          <a:xfrm>
            <a:off x="3561588" y="3177540"/>
            <a:ext cx="228600" cy="228600"/>
          </a:xfrm>
          <a:prstGeom prst="rect">
            <a:avLst/>
          </a:prstGeom>
        </p:spPr>
      </p:pic>
      <p:sp>
        <p:nvSpPr>
          <p:cNvPr id="26" name="learning Fix, don&amp;apos;t ignore title"/>
          <p:cNvSpPr txBox="1"/>
          <p:nvPr/>
        </p:nvSpPr>
        <p:spPr>
          <a:xfrm>
            <a:off x="4014216" y="3063240"/>
            <a:ext cx="1783080" cy="457200"/>
          </a:xfrm>
          <a:prstGeom prst="rect">
            <a:avLst/>
          </a:prstGeom>
          <a:noFill/>
          <a:ln/>
        </p:spPr>
        <p:txBody>
          <a:bodyPr wrap="square" lIns="0" tIns="0" rIns="0" bIns="0" rtlCol="0" anchor="ctr"/>
          <a:lstStyle/>
          <a:p>
            <a:pPr indent="0" marL="0">
              <a:buNone/>
            </a:pPr>
            <a:r>
              <a:rPr lang="en-US" sz="1400" b="1" dirty="0">
                <a:solidFill>
                  <a:schemeClr val="bg1"/>
                </a:solidFill>
              </a:rPr>
              <a:t>Fix, don't ignore</a:t>
            </a:r>
            <a:endParaRPr lang="en-US" sz="1400" dirty="0"/>
          </a:p>
        </p:txBody>
      </p:sp>
      <p:sp>
        <p:nvSpPr>
          <p:cNvPr id="27" name="learning Fix, don&amp;apos;t ignore desc"/>
          <p:cNvSpPr txBox="1"/>
          <p:nvPr/>
        </p:nvSpPr>
        <p:spPr>
          <a:xfrm>
            <a:off x="3447288" y="3657600"/>
            <a:ext cx="2286000" cy="731520"/>
          </a:xfrm>
          <a:prstGeom prst="rect">
            <a:avLst/>
          </a:prstGeom>
          <a:noFill/>
          <a:ln/>
        </p:spPr>
        <p:txBody>
          <a:bodyPr wrap="square" lIns="0" tIns="0" rIns="0" bIns="0" rtlCol="0" anchor="ctr"/>
          <a:lstStyle/>
          <a:p>
            <a:pPr indent="0" marL="0">
              <a:buNone/>
            </a:pPr>
            <a:r>
              <a:rPr lang="en-US" sz="1200" dirty="0">
                <a:solidFill>
                  <a:schemeClr val="bg2"/>
                </a:solidFill>
              </a:rPr>
              <a:t>46 fixable CVEs cleared by upgrades, not ignore rules.</a:t>
            </a:r>
            <a:endParaRPr lang="en-US" sz="1200" dirty="0"/>
          </a:p>
        </p:txBody>
      </p:sp>
      <p:sp>
        <p:nvSpPr>
          <p:cNvPr id="28" name="learning card Tear down in order"/>
          <p:cNvSpPr/>
          <p:nvPr/>
        </p:nvSpPr>
        <p:spPr>
          <a:xfrm>
            <a:off x="6071616" y="2880360"/>
            <a:ext cx="2624328" cy="1600200"/>
          </a:xfrm>
          <a:prstGeom prst="roundRect">
            <a:avLst>
              <a:gd name="adj" fmla="val 6857"/>
            </a:avLst>
          </a:prstGeom>
          <a:solidFill>
            <a:schemeClr val="tx2"/>
          </a:solidFill>
          <a:ln w="12700">
            <a:solidFill>
              <a:schemeClr val="tx2"/>
            </a:solidFill>
            <a:prstDash val="solid"/>
          </a:ln>
        </p:spPr>
      </p:sp>
      <p:sp>
        <p:nvSpPr>
          <p:cNvPr id="29" name="Tear down in order circle"/>
          <p:cNvSpPr/>
          <p:nvPr/>
        </p:nvSpPr>
        <p:spPr>
          <a:xfrm>
            <a:off x="6254496" y="3063240"/>
            <a:ext cx="457200" cy="457200"/>
          </a:xfrm>
          <a:prstGeom prst="ellipse">
            <a:avLst/>
          </a:prstGeom>
          <a:solidFill>
            <a:schemeClr val="accent2"/>
          </a:solidFill>
          <a:ln w="12700">
            <a:solidFill>
              <a:schemeClr val="accent2"/>
            </a:solidFill>
            <a:prstDash val="solid"/>
          </a:ln>
        </p:spPr>
      </p:sp>
      <p:pic>
        <p:nvPicPr>
          <p:cNvPr id="30" name="Tear down in order icon" descr="Tear down in order">    </p:cNvPr>
          <p:cNvPicPr>
            <a:picLocks noChangeAspect="1"/>
          </p:cNvPicPr>
          <p:nvPr/>
        </p:nvPicPr>
        <p:blipFill>
          <a:blip r:embed="rId6"/>
          <a:stretch>
            <a:fillRect/>
          </a:stretch>
        </p:blipFill>
        <p:spPr>
          <a:xfrm>
            <a:off x="6368796" y="3177540"/>
            <a:ext cx="228600" cy="228600"/>
          </a:xfrm>
          <a:prstGeom prst="rect">
            <a:avLst/>
          </a:prstGeom>
        </p:spPr>
      </p:pic>
      <p:sp>
        <p:nvSpPr>
          <p:cNvPr id="31" name="learning Tear down in order title"/>
          <p:cNvSpPr txBox="1"/>
          <p:nvPr/>
        </p:nvSpPr>
        <p:spPr>
          <a:xfrm>
            <a:off x="6821424" y="3063240"/>
            <a:ext cx="1783080" cy="457200"/>
          </a:xfrm>
          <a:prstGeom prst="rect">
            <a:avLst/>
          </a:prstGeom>
          <a:noFill/>
          <a:ln/>
        </p:spPr>
        <p:txBody>
          <a:bodyPr wrap="square" lIns="0" tIns="0" rIns="0" bIns="0" rtlCol="0" anchor="ctr"/>
          <a:lstStyle/>
          <a:p>
            <a:pPr indent="0" marL="0">
              <a:buNone/>
            </a:pPr>
            <a:r>
              <a:rPr lang="en-US" sz="1400" b="1" dirty="0">
                <a:solidFill>
                  <a:schemeClr val="bg1"/>
                </a:solidFill>
              </a:rPr>
              <a:t>Tear down in order</a:t>
            </a:r>
            <a:endParaRPr lang="en-US" sz="1400" dirty="0"/>
          </a:p>
        </p:txBody>
      </p:sp>
      <p:sp>
        <p:nvSpPr>
          <p:cNvPr id="32" name="learning Tear down in order desc"/>
          <p:cNvSpPr txBox="1"/>
          <p:nvPr/>
        </p:nvSpPr>
        <p:spPr>
          <a:xfrm>
            <a:off x="6254496" y="3657600"/>
            <a:ext cx="2286000" cy="731520"/>
          </a:xfrm>
          <a:prstGeom prst="rect">
            <a:avLst/>
          </a:prstGeom>
          <a:noFill/>
          <a:ln/>
        </p:spPr>
        <p:txBody>
          <a:bodyPr wrap="square" lIns="0" tIns="0" rIns="0" bIns="0" rtlCol="0" anchor="ctr"/>
          <a:lstStyle/>
          <a:p>
            <a:pPr indent="0" marL="0">
              <a:buNone/>
            </a:pPr>
            <a:r>
              <a:rPr lang="en-US" sz="1200" dirty="0">
                <a:solidFill>
                  <a:schemeClr val="bg2"/>
                </a:solidFill>
              </a:rPr>
              <a:t>Argo CD app, then Helm (ALB, EBS), then terraform destroy.</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480560" cy="914400"/>
          </a:xfrm>
          <a:prstGeom prst="rect">
            <a:avLst/>
          </a:prstGeom>
          <a:noFill/>
          <a:ln/>
        </p:spPr>
        <p:txBody>
          <a:bodyPr wrap="square" lIns="0" tIns="0" rIns="0" bIns="0" rtlCol="0" anchor="b"/>
          <a:lstStyle/>
          <a:p>
            <a:pPr algn="l" indent="0" marL="0">
              <a:buNone/>
            </a:pPr>
            <a:r>
              <a:rPr lang="en-US" sz="4800" b="1" dirty="0">
                <a:solidFill>
                  <a:schemeClr val="bg1"/>
                </a:solidFill>
              </a:rPr>
              <a:t>Thank you</a:t>
            </a:r>
            <a:endParaRPr lang="en-US" sz="4800" dirty="0"/>
          </a:p>
        </p:txBody>
      </p:sp>
      <p:sp>
        <p:nvSpPr>
          <p:cNvPr id="3" name="Text 0"/>
          <p:cNvSpPr/>
          <p:nvPr>
            <p:ph idx="101" type="body" hasCustomPrompt="1"/>
          </p:nvPr>
        </p:nvSpPr>
        <p:spPr>
          <a:xfrm>
            <a:off x="548640" y="2468880"/>
            <a:ext cx="4206240" cy="1097280"/>
          </a:xfrm>
          <a:prstGeom prst="rect">
            <a:avLst/>
          </a:prstGeom>
          <a:noFill/>
          <a:ln/>
        </p:spPr>
        <p:txBody>
          <a:bodyPr wrap="square" lIns="0" tIns="0" rIns="0" bIns="0" rtlCol="0" anchor="t"/>
          <a:lstStyle/>
          <a:p>
            <a:pPr indent="0" marL="0">
              <a:buNone/>
            </a:pPr>
            <a:r>
              <a:rPr lang="en-US" sz="1800" dirty="0">
                <a:solidFill>
                  <a:schemeClr val="bg2"/>
                </a:solidFill>
              </a:rPr>
              <a:t>LiftLog: tested, scanned, shipped with GitOps, and observed on Amazon EKS</a:t>
            </a:r>
            <a:endParaRPr lang="en-US" sz="1800" dirty="0"/>
          </a:p>
        </p:txBody>
      </p:sp>
      <p:sp>
        <p:nvSpPr>
          <p:cNvPr id="4" name="Repository circle"/>
          <p:cNvSpPr/>
          <p:nvPr/>
        </p:nvSpPr>
        <p:spPr>
          <a:xfrm>
            <a:off x="5120640" y="1325880"/>
            <a:ext cx="548640" cy="548640"/>
          </a:xfrm>
          <a:prstGeom prst="ellipse">
            <a:avLst/>
          </a:prstGeom>
          <a:solidFill>
            <a:schemeClr val="accent1"/>
          </a:solidFill>
          <a:ln w="12700">
            <a:solidFill>
              <a:schemeClr val="accent1"/>
            </a:solidFill>
            <a:prstDash val="solid"/>
          </a:ln>
        </p:spPr>
      </p:sp>
      <p:pic>
        <p:nvPicPr>
          <p:cNvPr id="5" name="Repository icon" descr="Repository">    </p:cNvPr>
          <p:cNvPicPr>
            <a:picLocks noChangeAspect="1"/>
          </p:cNvPicPr>
          <p:nvPr/>
        </p:nvPicPr>
        <p:blipFill>
          <a:blip r:embed="rId1"/>
          <a:stretch>
            <a:fillRect/>
          </a:stretch>
        </p:blipFill>
        <p:spPr>
          <a:xfrm>
            <a:off x="5257800" y="1463040"/>
            <a:ext cx="274320" cy="274320"/>
          </a:xfrm>
          <a:prstGeom prst="rect">
            <a:avLst/>
          </a:prstGeom>
        </p:spPr>
      </p:pic>
      <p:sp>
        <p:nvSpPr>
          <p:cNvPr id="6" name="link Repository title"/>
          <p:cNvSpPr txBox="1"/>
          <p:nvPr/>
        </p:nvSpPr>
        <p:spPr>
          <a:xfrm>
            <a:off x="5852160" y="1307592"/>
            <a:ext cx="2926080" cy="274320"/>
          </a:xfrm>
          <a:prstGeom prst="rect">
            <a:avLst/>
          </a:prstGeom>
          <a:noFill/>
          <a:ln/>
        </p:spPr>
        <p:txBody>
          <a:bodyPr wrap="square" lIns="0" tIns="0" rIns="0" bIns="0" rtlCol="0" anchor="ctr"/>
          <a:lstStyle/>
          <a:p>
            <a:pPr indent="0" marL="0">
              <a:buNone/>
            </a:pPr>
            <a:r>
              <a:rPr lang="en-US" sz="1500" b="1" dirty="0">
                <a:solidFill>
                  <a:schemeClr val="bg1"/>
                </a:solidFill>
              </a:rPr>
              <a:t>Repository</a:t>
            </a:r>
            <a:endParaRPr lang="en-US" sz="1500" dirty="0"/>
          </a:p>
        </p:txBody>
      </p:sp>
      <p:sp>
        <p:nvSpPr>
          <p:cNvPr id="7" name="link Repository url"/>
          <p:cNvSpPr txBox="1"/>
          <p:nvPr/>
        </p:nvSpPr>
        <p:spPr>
          <a:xfrm>
            <a:off x="5852160" y="1600200"/>
            <a:ext cx="2926080" cy="274320"/>
          </a:xfrm>
          <a:prstGeom prst="rect">
            <a:avLst/>
          </a:prstGeom>
          <a:noFill/>
          <a:ln/>
        </p:spPr>
        <p:txBody>
          <a:bodyPr wrap="square" lIns="0" tIns="0" rIns="0" bIns="0" rtlCol="0" anchor="ctr"/>
          <a:lstStyle/>
          <a:p>
            <a:pPr indent="0" marL="0">
              <a:buNone/>
            </a:pPr>
            <a:r>
              <a:rPr lang="en-US" sz="12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NeuralSynth/devops-heros-s21-liftlog</a:t>
            </a:r>
            <a:endParaRPr lang="en-US" sz="1200" dirty="0"/>
          </a:p>
        </p:txBody>
      </p:sp>
      <p:sp>
        <p:nvSpPr>
          <p:cNvPr id="8" name="Walkthrough video circle"/>
          <p:cNvSpPr/>
          <p:nvPr/>
        </p:nvSpPr>
        <p:spPr>
          <a:xfrm>
            <a:off x="5120640" y="2240280"/>
            <a:ext cx="548640" cy="548640"/>
          </a:xfrm>
          <a:prstGeom prst="ellipse">
            <a:avLst/>
          </a:prstGeom>
          <a:solidFill>
            <a:schemeClr val="accent5"/>
          </a:solidFill>
          <a:ln w="12700">
            <a:solidFill>
              <a:schemeClr val="accent5"/>
            </a:solidFill>
            <a:prstDash val="solid"/>
          </a:ln>
        </p:spPr>
      </p:sp>
      <p:pic>
        <p:nvPicPr>
          <p:cNvPr id="9" name="Walkthrough video icon" descr="Walkthrough video">    </p:cNvPr>
          <p:cNvPicPr>
            <a:picLocks noChangeAspect="1"/>
          </p:cNvPicPr>
          <p:nvPr/>
        </p:nvPicPr>
        <p:blipFill>
          <a:blip r:embed="rId3"/>
          <a:stretch>
            <a:fillRect/>
          </a:stretch>
        </p:blipFill>
        <p:spPr>
          <a:xfrm>
            <a:off x="5257800" y="2377440"/>
            <a:ext cx="274320" cy="274320"/>
          </a:xfrm>
          <a:prstGeom prst="rect">
            <a:avLst/>
          </a:prstGeom>
        </p:spPr>
      </p:pic>
      <p:sp>
        <p:nvSpPr>
          <p:cNvPr id="10" name="link Walkthrough video title"/>
          <p:cNvSpPr txBox="1"/>
          <p:nvPr/>
        </p:nvSpPr>
        <p:spPr>
          <a:xfrm>
            <a:off x="5852160" y="2221992"/>
            <a:ext cx="2926080" cy="274320"/>
          </a:xfrm>
          <a:prstGeom prst="rect">
            <a:avLst/>
          </a:prstGeom>
          <a:noFill/>
          <a:ln/>
        </p:spPr>
        <p:txBody>
          <a:bodyPr wrap="square" lIns="0" tIns="0" rIns="0" bIns="0" rtlCol="0" anchor="ctr"/>
          <a:lstStyle/>
          <a:p>
            <a:pPr indent="0" marL="0">
              <a:buNone/>
            </a:pPr>
            <a:r>
              <a:rPr lang="en-US" sz="1500" b="1" dirty="0">
                <a:solidFill>
                  <a:schemeClr val="bg1"/>
                </a:solidFill>
              </a:rPr>
              <a:t>Walkthrough video</a:t>
            </a:r>
            <a:endParaRPr lang="en-US" sz="1500" dirty="0"/>
          </a:p>
        </p:txBody>
      </p:sp>
      <p:sp>
        <p:nvSpPr>
          <p:cNvPr id="11" name="link Walkthrough video url"/>
          <p:cNvSpPr txBox="1"/>
          <p:nvPr/>
        </p:nvSpPr>
        <p:spPr>
          <a:xfrm>
            <a:off x="5852160" y="2514600"/>
            <a:ext cx="2926080" cy="274320"/>
          </a:xfrm>
          <a:prstGeom prst="rect">
            <a:avLst/>
          </a:prstGeom>
          <a:noFill/>
          <a:ln/>
        </p:spPr>
        <p:txBody>
          <a:bodyPr wrap="square" lIns="0" tIns="0" rIns="0" bIns="0" rtlCol="0" anchor="ctr"/>
          <a:lstStyle/>
          <a:p>
            <a:pPr indent="0" marL="0">
              <a:buNone/>
            </a:pPr>
            <a:r>
              <a:rPr lang="en-US" sz="12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youtu.be/2FtC1-wvGKg</a:t>
            </a:r>
            <a:endParaRPr lang="en-US" sz="1200" dirty="0"/>
          </a:p>
        </p:txBody>
      </p:sp>
      <p:sp>
        <p:nvSpPr>
          <p:cNvPr id="12" name="Evidence circle"/>
          <p:cNvSpPr/>
          <p:nvPr/>
        </p:nvSpPr>
        <p:spPr>
          <a:xfrm>
            <a:off x="5120640" y="3154680"/>
            <a:ext cx="548640" cy="548640"/>
          </a:xfrm>
          <a:prstGeom prst="ellipse">
            <a:avLst/>
          </a:prstGeom>
          <a:solidFill>
            <a:schemeClr val="accent1"/>
          </a:solidFill>
          <a:ln w="12700">
            <a:solidFill>
              <a:schemeClr val="accent1"/>
            </a:solidFill>
            <a:prstDash val="solid"/>
          </a:ln>
        </p:spPr>
      </p:sp>
      <p:pic>
        <p:nvPicPr>
          <p:cNvPr id="13" name="Evidence icon" descr="Evidence">    </p:cNvPr>
          <p:cNvPicPr>
            <a:picLocks noChangeAspect="1"/>
          </p:cNvPicPr>
          <p:nvPr/>
        </p:nvPicPr>
        <p:blipFill>
          <a:blip r:embed="rId5"/>
          <a:stretch>
            <a:fillRect/>
          </a:stretch>
        </p:blipFill>
        <p:spPr>
          <a:xfrm>
            <a:off x="5257800" y="3291840"/>
            <a:ext cx="274320" cy="274320"/>
          </a:xfrm>
          <a:prstGeom prst="rect">
            <a:avLst/>
          </a:prstGeom>
        </p:spPr>
      </p:pic>
      <p:sp>
        <p:nvSpPr>
          <p:cNvPr id="14" name="link Evidence title"/>
          <p:cNvSpPr txBox="1"/>
          <p:nvPr/>
        </p:nvSpPr>
        <p:spPr>
          <a:xfrm>
            <a:off x="5852160" y="3136392"/>
            <a:ext cx="2926080" cy="274320"/>
          </a:xfrm>
          <a:prstGeom prst="rect">
            <a:avLst/>
          </a:prstGeom>
          <a:noFill/>
          <a:ln/>
        </p:spPr>
        <p:txBody>
          <a:bodyPr wrap="square" lIns="0" tIns="0" rIns="0" bIns="0" rtlCol="0" anchor="ctr"/>
          <a:lstStyle/>
          <a:p>
            <a:pPr indent="0" marL="0">
              <a:buNone/>
            </a:pPr>
            <a:r>
              <a:rPr lang="en-US" sz="1500" b="1" dirty="0">
                <a:solidFill>
                  <a:schemeClr val="bg1"/>
                </a:solidFill>
              </a:rPr>
              <a:t>Evidence</a:t>
            </a:r>
            <a:endParaRPr lang="en-US" sz="1500" dirty="0"/>
          </a:p>
        </p:txBody>
      </p:sp>
      <p:sp>
        <p:nvSpPr>
          <p:cNvPr id="15" name="link Evidence url"/>
          <p:cNvSpPr txBox="1"/>
          <p:nvPr/>
        </p:nvSpPr>
        <p:spPr>
          <a:xfrm>
            <a:off x="5852160" y="3429000"/>
            <a:ext cx="2926080" cy="274320"/>
          </a:xfrm>
          <a:prstGeom prst="rect">
            <a:avLst/>
          </a:prstGeom>
          <a:noFill/>
          <a:ln/>
        </p:spPr>
        <p:txBody>
          <a:bodyPr wrap="square" lIns="0" tIns="0" rIns="0" bIns="0" rtlCol="0" anchor="ctr"/>
          <a:lstStyle/>
          <a:p>
            <a:pPr indent="0" marL="0">
              <a:buNone/>
            </a:pPr>
            <a:r>
              <a:rPr lang="en-US" sz="12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docs/evidence in the repository</a:t>
            </a:r>
            <a:endParaRPr lang="en-US" sz="1200" dirty="0"/>
          </a:p>
        </p:txBody>
      </p:sp>
    </p:spTree>
  </p:cSld>
  <p:clrMapOvr>
    <a:masterClrMapping/>
  </p:clrMapOvr>
</p:sld>
</file>

<file path=ppt/theme/theme1.xml><?xml version="1.0" encoding="utf-8"?>
<a:theme xmlns:a="http://schemas.openxmlformats.org/drawingml/2006/main" name="LiftLog Dark">
  <a:themeElements>
    <a:clrScheme name="LiftLog Dark">
      <a:dk1>
        <a:srgbClr val="0F1115"/>
      </a:dk1>
      <a:lt1>
        <a:srgbClr val="FFFFFF"/>
      </a:lt1>
      <a:dk2>
        <a:srgbClr val="1A1E27"/>
      </a:dk2>
      <a:lt2>
        <a:srgbClr val="E8EAF0"/>
      </a:lt2>
      <a:accent1>
        <a:srgbClr val="3EA6FF"/>
      </a:accent1>
      <a:accent2>
        <a:srgbClr val="7C5CFF"/>
      </a:accent2>
      <a:accent3>
        <a:srgbClr val="FBBF24"/>
      </a:accent3>
      <a:accent4>
        <a:srgbClr val="34D399"/>
      </a:accent4>
      <a:accent5>
        <a:srgbClr val="F87171"/>
      </a:accent5>
      <a:accent6>
        <a:srgbClr val="8B93A5"/>
      </a:accent6>
      <a:hlink>
        <a:srgbClr val="3EA6FF"/>
      </a:hlink>
      <a:folHlink>
        <a:srgbClr val="7C5CFF"/>
      </a:folHlink>
    </a:clrScheme>
    <a:fontScheme name="LiftLog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LiftLog — DevOps Capstone</dc:title>
  <dc:subject>Session 21 final capstone: LiftLog workout tracker on AWS EKS</dc:subject>
  <dc:creator>Shreyas S</dc:creator>
  <cp:lastModifiedBy>Shreyas S</cp:lastModifiedBy>
  <cp:revision>1</cp:revision>
  <dcterms:created xsi:type="dcterms:W3CDTF">2026-10-18T02:29:08Z</dcterms:created>
  <dcterms:modified xsi:type="dcterms:W3CDTF">2026-10-18T02:29:08Z</dcterms:modified>
</cp:coreProperties>
</file>